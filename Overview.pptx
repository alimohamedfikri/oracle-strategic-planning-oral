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right Retro" charset="1" panose="00000000000000000000"/>
      <p:regular r:id="rId20"/>
    </p:embeddedFont>
    <p:embeddedFont>
      <p:font typeface="Alkalami"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jpe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 Id="rId6" Target="../media/image16.jpeg" Type="http://schemas.openxmlformats.org/officeDocument/2006/relationships/image"/><Relationship Id="rId7" Target="../media/image17.jpeg" Type="http://schemas.openxmlformats.org/officeDocument/2006/relationships/image"/><Relationship Id="rId8" Target="../media/image18.jpeg" Type="http://schemas.openxmlformats.org/officeDocument/2006/relationships/image"/><Relationship Id="rId9"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C"/>
        </a:solidFill>
      </p:bgPr>
    </p:bg>
    <p:spTree>
      <p:nvGrpSpPr>
        <p:cNvPr id="1" name=""/>
        <p:cNvGrpSpPr/>
        <p:nvPr/>
      </p:nvGrpSpPr>
      <p:grpSpPr>
        <a:xfrm>
          <a:off x="0" y="0"/>
          <a:ext cx="0" cy="0"/>
          <a:chOff x="0" y="0"/>
          <a:chExt cx="0" cy="0"/>
        </a:xfrm>
      </p:grpSpPr>
      <p:sp>
        <p:nvSpPr>
          <p:cNvPr name="Freeform 2" id="2"/>
          <p:cNvSpPr/>
          <p:nvPr/>
        </p:nvSpPr>
        <p:spPr>
          <a:xfrm flipH="false" flipV="false" rot="0">
            <a:off x="12421610" y="-1809050"/>
            <a:ext cx="8005420" cy="9004051"/>
          </a:xfrm>
          <a:custGeom>
            <a:avLst/>
            <a:gdLst/>
            <a:ahLst/>
            <a:cxnLst/>
            <a:rect r="r" b="b" t="t" l="l"/>
            <a:pathLst>
              <a:path h="9004051" w="8005420">
                <a:moveTo>
                  <a:pt x="0" y="0"/>
                </a:moveTo>
                <a:lnTo>
                  <a:pt x="8005420" y="0"/>
                </a:lnTo>
                <a:lnTo>
                  <a:pt x="8005420" y="9004051"/>
                </a:lnTo>
                <a:lnTo>
                  <a:pt x="0" y="90040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49024">
            <a:off x="10934268" y="3713584"/>
            <a:ext cx="6995082" cy="9594253"/>
          </a:xfrm>
          <a:custGeom>
            <a:avLst/>
            <a:gdLst/>
            <a:ahLst/>
            <a:cxnLst/>
            <a:rect r="r" b="b" t="t" l="l"/>
            <a:pathLst>
              <a:path h="9594253" w="6995082">
                <a:moveTo>
                  <a:pt x="0" y="0"/>
                </a:moveTo>
                <a:lnTo>
                  <a:pt x="6995083" y="0"/>
                </a:lnTo>
                <a:lnTo>
                  <a:pt x="6995083" y="9594253"/>
                </a:lnTo>
                <a:lnTo>
                  <a:pt x="0" y="9594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6"/>
            <a:stretch>
              <a:fillRect l="0" t="0" r="0" b="-23942"/>
            </a:stretch>
          </a:blipFill>
        </p:spPr>
      </p:sp>
      <p:sp>
        <p:nvSpPr>
          <p:cNvPr name="Freeform 5" id="5"/>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7"/>
            <a:stretch>
              <a:fillRect l="0" t="-403207" r="0" b="0"/>
            </a:stretch>
          </a:blipFill>
        </p:spPr>
      </p:sp>
      <p:grpSp>
        <p:nvGrpSpPr>
          <p:cNvPr name="Group 6" id="6"/>
          <p:cNvGrpSpPr/>
          <p:nvPr/>
        </p:nvGrpSpPr>
        <p:grpSpPr>
          <a:xfrm rot="0">
            <a:off x="1028700" y="2816751"/>
            <a:ext cx="9685227" cy="4565575"/>
            <a:chOff x="0" y="0"/>
            <a:chExt cx="12913636" cy="6087434"/>
          </a:xfrm>
        </p:grpSpPr>
        <p:sp>
          <p:nvSpPr>
            <p:cNvPr name="TextBox 7" id="7"/>
            <p:cNvSpPr txBox="true"/>
            <p:nvPr/>
          </p:nvSpPr>
          <p:spPr>
            <a:xfrm rot="0">
              <a:off x="0" y="638175"/>
              <a:ext cx="12913636" cy="4949726"/>
            </a:xfrm>
            <a:prstGeom prst="rect">
              <a:avLst/>
            </a:prstGeom>
          </p:spPr>
          <p:txBody>
            <a:bodyPr anchor="t" rtlCol="false" tIns="0" lIns="0" bIns="0" rIns="0">
              <a:spAutoFit/>
            </a:bodyPr>
            <a:lstStyle/>
            <a:p>
              <a:pPr algn="l">
                <a:lnSpc>
                  <a:spcPts val="13200"/>
                </a:lnSpc>
              </a:pPr>
              <a:r>
                <a:rPr lang="en-US" sz="16500">
                  <a:solidFill>
                    <a:srgbClr val="E30408"/>
                  </a:solidFill>
                  <a:latin typeface="Bright Retro"/>
                  <a:ea typeface="Bright Retro"/>
                  <a:cs typeface="Bright Retro"/>
                  <a:sym typeface="Bright Retro"/>
                </a:rPr>
                <a:t>Vision and Mission</a:t>
              </a:r>
            </a:p>
          </p:txBody>
        </p:sp>
        <p:sp>
          <p:nvSpPr>
            <p:cNvPr name="TextBox 8" id="8"/>
            <p:cNvSpPr txBox="true"/>
            <p:nvPr/>
          </p:nvSpPr>
          <p:spPr>
            <a:xfrm rot="0">
              <a:off x="0" y="5530751"/>
              <a:ext cx="11489570" cy="556683"/>
            </a:xfrm>
            <a:prstGeom prst="rect">
              <a:avLst/>
            </a:prstGeom>
          </p:spPr>
          <p:txBody>
            <a:bodyPr anchor="t" rtlCol="false" tIns="0" lIns="0" bIns="0" rIns="0">
              <a:spAutoFit/>
            </a:bodyPr>
            <a:lstStyle/>
            <a:p>
              <a:pPr algn="l">
                <a:lnSpc>
                  <a:spcPts val="3500"/>
                </a:lnSpc>
              </a:pPr>
              <a:r>
                <a:rPr lang="en-US" sz="2500">
                  <a:solidFill>
                    <a:srgbClr val="E30408"/>
                  </a:solidFill>
                  <a:latin typeface="Alkalami"/>
                  <a:ea typeface="Alkalami"/>
                  <a:cs typeface="Alkalami"/>
                  <a:sym typeface="Alkalami"/>
                </a:rPr>
                <a:t>Presented by: Insight.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262653">
            <a:off x="-1158999" y="-1115284"/>
            <a:ext cx="8411352" cy="8862536"/>
          </a:xfrm>
          <a:custGeom>
            <a:avLst/>
            <a:gdLst/>
            <a:ahLst/>
            <a:cxnLst/>
            <a:rect r="r" b="b" t="t" l="l"/>
            <a:pathLst>
              <a:path h="8862536" w="8411352">
                <a:moveTo>
                  <a:pt x="0" y="0"/>
                </a:moveTo>
                <a:lnTo>
                  <a:pt x="8411353" y="0"/>
                </a:lnTo>
                <a:lnTo>
                  <a:pt x="8411353"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3081" y="3330949"/>
            <a:ext cx="6818251" cy="3528997"/>
            <a:chOff x="0" y="0"/>
            <a:chExt cx="2244826" cy="1161879"/>
          </a:xfrm>
        </p:grpSpPr>
        <p:sp>
          <p:nvSpPr>
            <p:cNvPr name="Freeform 4" id="4"/>
            <p:cNvSpPr/>
            <p:nvPr/>
          </p:nvSpPr>
          <p:spPr>
            <a:xfrm flipH="false" flipV="false" rot="0">
              <a:off x="12700" y="12700"/>
              <a:ext cx="2180056" cy="1093299"/>
            </a:xfrm>
            <a:custGeom>
              <a:avLst/>
              <a:gdLst/>
              <a:ahLst/>
              <a:cxnLst/>
              <a:rect r="r" b="b" t="t" l="l"/>
              <a:pathLst>
                <a:path h="1093299" w="2180056">
                  <a:moveTo>
                    <a:pt x="146050" y="1093299"/>
                  </a:moveTo>
                  <a:lnTo>
                    <a:pt x="2034006" y="1093299"/>
                  </a:lnTo>
                  <a:cubicBezTo>
                    <a:pt x="2114016" y="1093299"/>
                    <a:pt x="2180056" y="1027259"/>
                    <a:pt x="2180056" y="947249"/>
                  </a:cubicBezTo>
                  <a:lnTo>
                    <a:pt x="2180056" y="146050"/>
                  </a:lnTo>
                  <a:cubicBezTo>
                    <a:pt x="2180056" y="66040"/>
                    <a:pt x="2114016" y="0"/>
                    <a:pt x="2034006" y="0"/>
                  </a:cubicBezTo>
                  <a:lnTo>
                    <a:pt x="146050" y="0"/>
                  </a:lnTo>
                  <a:cubicBezTo>
                    <a:pt x="66040" y="0"/>
                    <a:pt x="0" y="66040"/>
                    <a:pt x="0" y="146050"/>
                  </a:cubicBezTo>
                  <a:lnTo>
                    <a:pt x="0" y="947249"/>
                  </a:lnTo>
                  <a:cubicBezTo>
                    <a:pt x="0" y="1028529"/>
                    <a:pt x="66040" y="1093299"/>
                    <a:pt x="146050" y="1093299"/>
                  </a:cubicBezTo>
                  <a:close/>
                </a:path>
              </a:pathLst>
            </a:custGeom>
            <a:solidFill>
              <a:srgbClr val="FFF6EC"/>
            </a:solidFill>
          </p:spPr>
        </p:sp>
        <p:sp>
          <p:nvSpPr>
            <p:cNvPr name="Freeform 5" id="5"/>
            <p:cNvSpPr/>
            <p:nvPr/>
          </p:nvSpPr>
          <p:spPr>
            <a:xfrm flipH="false" flipV="false" rot="0">
              <a:off x="0" y="0"/>
              <a:ext cx="2244826" cy="1161879"/>
            </a:xfrm>
            <a:custGeom>
              <a:avLst/>
              <a:gdLst/>
              <a:ahLst/>
              <a:cxnLst/>
              <a:rect r="r" b="b" t="t" l="l"/>
              <a:pathLst>
                <a:path h="1161879" w="2244826">
                  <a:moveTo>
                    <a:pt x="2181326" y="74930"/>
                  </a:moveTo>
                  <a:cubicBezTo>
                    <a:pt x="2153386" y="30480"/>
                    <a:pt x="2103856" y="0"/>
                    <a:pt x="2046706" y="0"/>
                  </a:cubicBezTo>
                  <a:lnTo>
                    <a:pt x="158750" y="0"/>
                  </a:lnTo>
                  <a:cubicBezTo>
                    <a:pt x="71120" y="0"/>
                    <a:pt x="0" y="71120"/>
                    <a:pt x="0" y="158750"/>
                  </a:cubicBezTo>
                  <a:lnTo>
                    <a:pt x="0" y="959949"/>
                  </a:lnTo>
                  <a:cubicBezTo>
                    <a:pt x="0" y="1012019"/>
                    <a:pt x="25400" y="1057739"/>
                    <a:pt x="63500" y="1086949"/>
                  </a:cubicBezTo>
                  <a:cubicBezTo>
                    <a:pt x="91440" y="1131399"/>
                    <a:pt x="140970" y="1161879"/>
                    <a:pt x="200759" y="1161879"/>
                  </a:cubicBezTo>
                  <a:lnTo>
                    <a:pt x="2086076" y="1161879"/>
                  </a:lnTo>
                  <a:cubicBezTo>
                    <a:pt x="2173706" y="1161879"/>
                    <a:pt x="2244826" y="1090759"/>
                    <a:pt x="2244826" y="1003129"/>
                  </a:cubicBezTo>
                  <a:lnTo>
                    <a:pt x="2244826" y="199249"/>
                  </a:lnTo>
                  <a:cubicBezTo>
                    <a:pt x="2244826" y="149860"/>
                    <a:pt x="2219426" y="104140"/>
                    <a:pt x="2181326" y="74930"/>
                  </a:cubicBezTo>
                  <a:close/>
                  <a:moveTo>
                    <a:pt x="12700" y="959949"/>
                  </a:moveTo>
                  <a:lnTo>
                    <a:pt x="12700" y="158750"/>
                  </a:lnTo>
                  <a:cubicBezTo>
                    <a:pt x="12700" y="78740"/>
                    <a:pt x="78740" y="12700"/>
                    <a:pt x="158750" y="12700"/>
                  </a:cubicBezTo>
                  <a:lnTo>
                    <a:pt x="2046706" y="12700"/>
                  </a:lnTo>
                  <a:cubicBezTo>
                    <a:pt x="2126716" y="12700"/>
                    <a:pt x="2192756" y="78740"/>
                    <a:pt x="2192756" y="158750"/>
                  </a:cubicBezTo>
                  <a:lnTo>
                    <a:pt x="2192756" y="959949"/>
                  </a:lnTo>
                  <a:cubicBezTo>
                    <a:pt x="2192756" y="1039959"/>
                    <a:pt x="2126716" y="1105999"/>
                    <a:pt x="2046706" y="1105999"/>
                  </a:cubicBezTo>
                  <a:lnTo>
                    <a:pt x="158750" y="1105999"/>
                  </a:lnTo>
                  <a:cubicBezTo>
                    <a:pt x="78740" y="1105999"/>
                    <a:pt x="12700" y="1041229"/>
                    <a:pt x="12700" y="959949"/>
                  </a:cubicBezTo>
                  <a:close/>
                </a:path>
              </a:pathLst>
            </a:custGeom>
            <a:solidFill>
              <a:srgbClr val="000000"/>
            </a:solidFill>
          </p:spPr>
        </p:sp>
      </p:grpSp>
      <p:sp>
        <p:nvSpPr>
          <p:cNvPr name="TextBox 6" id="6"/>
          <p:cNvSpPr txBox="true"/>
          <p:nvPr/>
        </p:nvSpPr>
        <p:spPr>
          <a:xfrm rot="0">
            <a:off x="10527721" y="6407936"/>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Vision Vs  Mission</a:t>
            </a:r>
          </a:p>
        </p:txBody>
      </p:sp>
      <p:sp>
        <p:nvSpPr>
          <p:cNvPr name="TextBox 7" id="7"/>
          <p:cNvSpPr txBox="true"/>
          <p:nvPr/>
        </p:nvSpPr>
        <p:spPr>
          <a:xfrm rot="0">
            <a:off x="10527721" y="3725753"/>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About the Company</a:t>
            </a:r>
          </a:p>
        </p:txBody>
      </p:sp>
      <p:sp>
        <p:nvSpPr>
          <p:cNvPr name="TextBox 8" id="8"/>
          <p:cNvSpPr txBox="true"/>
          <p:nvPr/>
        </p:nvSpPr>
        <p:spPr>
          <a:xfrm rot="0">
            <a:off x="10527721" y="7077250"/>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Team</a:t>
            </a:r>
          </a:p>
        </p:txBody>
      </p:sp>
      <p:sp>
        <p:nvSpPr>
          <p:cNvPr name="TextBox 9" id="9"/>
          <p:cNvSpPr txBox="true"/>
          <p:nvPr/>
        </p:nvSpPr>
        <p:spPr>
          <a:xfrm rot="0">
            <a:off x="2251888" y="4495373"/>
            <a:ext cx="5480637" cy="1400175"/>
          </a:xfrm>
          <a:prstGeom prst="rect">
            <a:avLst/>
          </a:prstGeom>
        </p:spPr>
        <p:txBody>
          <a:bodyPr anchor="t" rtlCol="false" tIns="0" lIns="0" bIns="0" rIns="0">
            <a:spAutoFit/>
          </a:bodyPr>
          <a:lstStyle/>
          <a:p>
            <a:pPr algn="ctr" marL="0" indent="0" lvl="0">
              <a:lnSpc>
                <a:spcPts val="10500"/>
              </a:lnSpc>
              <a:spcBef>
                <a:spcPct val="0"/>
              </a:spcBef>
            </a:pPr>
            <a:r>
              <a:rPr lang="en-US" sz="10500">
                <a:solidFill>
                  <a:srgbClr val="E30408"/>
                </a:solidFill>
                <a:latin typeface="Bright Retro"/>
                <a:ea typeface="Bright Retro"/>
                <a:cs typeface="Bright Retro"/>
                <a:sym typeface="Bright Retro"/>
              </a:rPr>
              <a:t>Agenda</a:t>
            </a:r>
          </a:p>
        </p:txBody>
      </p:sp>
      <p:sp>
        <p:nvSpPr>
          <p:cNvPr name="TextBox 10" id="10"/>
          <p:cNvSpPr txBox="true"/>
          <p:nvPr/>
        </p:nvSpPr>
        <p:spPr>
          <a:xfrm rot="0">
            <a:off x="10527721" y="3059022"/>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Overview</a:t>
            </a:r>
          </a:p>
        </p:txBody>
      </p:sp>
      <p:sp>
        <p:nvSpPr>
          <p:cNvPr name="TextBox 11" id="11"/>
          <p:cNvSpPr txBox="true"/>
          <p:nvPr/>
        </p:nvSpPr>
        <p:spPr>
          <a:xfrm rot="0">
            <a:off x="10527721" y="5066873"/>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Vision</a:t>
            </a:r>
          </a:p>
        </p:txBody>
      </p:sp>
      <p:sp>
        <p:nvSpPr>
          <p:cNvPr name="TextBox 12" id="12"/>
          <p:cNvSpPr txBox="true"/>
          <p:nvPr/>
        </p:nvSpPr>
        <p:spPr>
          <a:xfrm rot="0">
            <a:off x="10527721" y="5737414"/>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Mission</a:t>
            </a:r>
          </a:p>
        </p:txBody>
      </p:sp>
      <p:sp>
        <p:nvSpPr>
          <p:cNvPr name="TextBox 13" id="13"/>
          <p:cNvSpPr txBox="true"/>
          <p:nvPr/>
        </p:nvSpPr>
        <p:spPr>
          <a:xfrm rot="0">
            <a:off x="10527721" y="4396313"/>
            <a:ext cx="6731579" cy="432435"/>
          </a:xfrm>
          <a:prstGeom prst="rect">
            <a:avLst/>
          </a:prstGeom>
        </p:spPr>
        <p:txBody>
          <a:bodyPr anchor="t" rtlCol="false" tIns="0" lIns="0" bIns="0" rIns="0">
            <a:spAutoFit/>
          </a:bodyPr>
          <a:lstStyle/>
          <a:p>
            <a:pPr algn="l" marL="582933" indent="-291467" lvl="1">
              <a:lnSpc>
                <a:spcPts val="3510"/>
              </a:lnSpc>
              <a:spcBef>
                <a:spcPct val="0"/>
              </a:spcBef>
              <a:buFont typeface="Arial"/>
              <a:buChar char="•"/>
            </a:pPr>
            <a:r>
              <a:rPr lang="en-US" sz="2700">
                <a:solidFill>
                  <a:srgbClr val="FFF6EC"/>
                </a:solidFill>
                <a:latin typeface="Alkalami"/>
                <a:ea typeface="Alkalami"/>
                <a:cs typeface="Alkalami"/>
                <a:sym typeface="Alkalami"/>
              </a:rPr>
              <a:t>Most Significant Achievement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6EC"/>
        </a:solidFill>
      </p:bgPr>
    </p:bg>
    <p:spTree>
      <p:nvGrpSpPr>
        <p:cNvPr id="1" name=""/>
        <p:cNvGrpSpPr/>
        <p:nvPr/>
      </p:nvGrpSpPr>
      <p:grpSpPr>
        <a:xfrm>
          <a:off x="0" y="0"/>
          <a:ext cx="0" cy="0"/>
          <a:chOff x="0" y="0"/>
          <a:chExt cx="0" cy="0"/>
        </a:xfrm>
      </p:grpSpPr>
      <p:sp>
        <p:nvSpPr>
          <p:cNvPr name="TextBox 2" id="2"/>
          <p:cNvSpPr txBox="true"/>
          <p:nvPr/>
        </p:nvSpPr>
        <p:spPr>
          <a:xfrm rot="0">
            <a:off x="1363478" y="6116445"/>
            <a:ext cx="3938540" cy="613410"/>
          </a:xfrm>
          <a:prstGeom prst="rect">
            <a:avLst/>
          </a:prstGeom>
        </p:spPr>
        <p:txBody>
          <a:bodyPr anchor="t" rtlCol="false" tIns="0" lIns="0" bIns="0" rIns="0">
            <a:spAutoFit/>
          </a:bodyPr>
          <a:lstStyle/>
          <a:p>
            <a:pPr algn="l" marL="0" indent="0" lvl="0">
              <a:lnSpc>
                <a:spcPts val="5040"/>
              </a:lnSpc>
              <a:spcBef>
                <a:spcPct val="0"/>
              </a:spcBef>
            </a:pPr>
            <a:r>
              <a:rPr lang="en-US" sz="3600" u="none">
                <a:solidFill>
                  <a:srgbClr val="E30408"/>
                </a:solidFill>
                <a:latin typeface="Alkalami"/>
                <a:ea typeface="Alkalami"/>
                <a:cs typeface="Alkalami"/>
                <a:sym typeface="Alkalami"/>
              </a:rPr>
              <a:t>Vision</a:t>
            </a:r>
          </a:p>
        </p:txBody>
      </p:sp>
      <p:sp>
        <p:nvSpPr>
          <p:cNvPr name="TextBox 3" id="3"/>
          <p:cNvSpPr txBox="true"/>
          <p:nvPr/>
        </p:nvSpPr>
        <p:spPr>
          <a:xfrm rot="0">
            <a:off x="1363478" y="7156897"/>
            <a:ext cx="3938540" cy="210185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E30408"/>
                </a:solidFill>
                <a:latin typeface="Alkalami"/>
                <a:ea typeface="Alkalami"/>
                <a:cs typeface="Alkalami"/>
                <a:sym typeface="Alkalami"/>
              </a:rPr>
              <a:t>What is the impact of the company you want to leave behind? </a:t>
            </a:r>
          </a:p>
          <a:p>
            <a:pPr algn="l" marL="431801" indent="-215900" lvl="1">
              <a:lnSpc>
                <a:spcPts val="2800"/>
              </a:lnSpc>
              <a:buFont typeface="Arial"/>
              <a:buChar char="•"/>
            </a:pPr>
            <a:r>
              <a:rPr lang="en-US" sz="2000">
                <a:solidFill>
                  <a:srgbClr val="E30408"/>
                </a:solidFill>
                <a:latin typeface="Alkalami"/>
                <a:ea typeface="Alkalami"/>
                <a:cs typeface="Alkalami"/>
                <a:sym typeface="Alkalami"/>
              </a:rPr>
              <a:t>What is the culture that you want to play out in your employees' lives? </a:t>
            </a:r>
          </a:p>
        </p:txBody>
      </p:sp>
      <p:grpSp>
        <p:nvGrpSpPr>
          <p:cNvPr name="Group 4" id="4"/>
          <p:cNvGrpSpPr/>
          <p:nvPr/>
        </p:nvGrpSpPr>
        <p:grpSpPr>
          <a:xfrm rot="0">
            <a:off x="7122235" y="6183120"/>
            <a:ext cx="3918432" cy="3075701"/>
            <a:chOff x="0" y="0"/>
            <a:chExt cx="5224576" cy="4100935"/>
          </a:xfrm>
        </p:grpSpPr>
        <p:sp>
          <p:nvSpPr>
            <p:cNvPr name="TextBox 5" id="5"/>
            <p:cNvSpPr txBox="true"/>
            <p:nvPr/>
          </p:nvSpPr>
          <p:spPr>
            <a:xfrm rot="0">
              <a:off x="0" y="-66675"/>
              <a:ext cx="5224576" cy="795655"/>
            </a:xfrm>
            <a:prstGeom prst="rect">
              <a:avLst/>
            </a:prstGeom>
          </p:spPr>
          <p:txBody>
            <a:bodyPr anchor="t" rtlCol="false" tIns="0" lIns="0" bIns="0" rIns="0">
              <a:spAutoFit/>
            </a:bodyPr>
            <a:lstStyle/>
            <a:p>
              <a:pPr algn="l" marL="0" indent="0" lvl="0">
                <a:lnSpc>
                  <a:spcPts val="5040"/>
                </a:lnSpc>
                <a:spcBef>
                  <a:spcPct val="0"/>
                </a:spcBef>
              </a:pPr>
              <a:r>
                <a:rPr lang="en-US" sz="3600">
                  <a:solidFill>
                    <a:srgbClr val="E30408"/>
                  </a:solidFill>
                  <a:latin typeface="Alkalami"/>
                  <a:ea typeface="Alkalami"/>
                  <a:cs typeface="Alkalami"/>
                  <a:sym typeface="Alkalami"/>
                </a:rPr>
                <a:t>Mission</a:t>
              </a:r>
            </a:p>
          </p:txBody>
        </p:sp>
        <p:sp>
          <p:nvSpPr>
            <p:cNvPr name="TextBox 6" id="6"/>
            <p:cNvSpPr txBox="true"/>
            <p:nvPr/>
          </p:nvSpPr>
          <p:spPr>
            <a:xfrm rot="0">
              <a:off x="0" y="1311168"/>
              <a:ext cx="5224576" cy="2789767"/>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E30408"/>
                  </a:solidFill>
                  <a:latin typeface="Alkalami"/>
                  <a:ea typeface="Alkalami"/>
                  <a:cs typeface="Alkalami"/>
                  <a:sym typeface="Alkalami"/>
                </a:rPr>
                <a:t>What is your company doing today?</a:t>
              </a:r>
              <a:r>
                <a:rPr lang="en-US" sz="2000">
                  <a:solidFill>
                    <a:srgbClr val="E30408"/>
                  </a:solidFill>
                  <a:latin typeface="Alkalami"/>
                  <a:ea typeface="Alkalami"/>
                  <a:cs typeface="Alkalami"/>
                  <a:sym typeface="Alkalami"/>
                </a:rPr>
                <a:t> </a:t>
              </a:r>
            </a:p>
            <a:p>
              <a:pPr algn="l" marL="431801" indent="-215900" lvl="1">
                <a:lnSpc>
                  <a:spcPts val="2800"/>
                </a:lnSpc>
                <a:buFont typeface="Arial"/>
                <a:buChar char="•"/>
              </a:pPr>
              <a:r>
                <a:rPr lang="en-US" sz="2000">
                  <a:solidFill>
                    <a:srgbClr val="E30408"/>
                  </a:solidFill>
                  <a:latin typeface="Alkalami"/>
                  <a:ea typeface="Alkalami"/>
                  <a:cs typeface="Alkalami"/>
                  <a:sym typeface="Alkalami"/>
                </a:rPr>
                <a:t>Why are you doing it and who are you doing it for?</a:t>
              </a:r>
            </a:p>
            <a:p>
              <a:pPr algn="l" marL="431801" indent="-215900" lvl="1">
                <a:lnSpc>
                  <a:spcPts val="2800"/>
                </a:lnSpc>
                <a:buFont typeface="Arial"/>
                <a:buChar char="•"/>
              </a:pPr>
              <a:r>
                <a:rPr lang="en-US" sz="2000">
                  <a:solidFill>
                    <a:srgbClr val="E30408"/>
                  </a:solidFill>
                  <a:latin typeface="Alkalami"/>
                  <a:ea typeface="Alkalami"/>
                  <a:cs typeface="Alkalami"/>
                  <a:sym typeface="Alkalami"/>
                </a:rPr>
                <a:t>How does it contribute to the greater good? </a:t>
              </a:r>
            </a:p>
          </p:txBody>
        </p:sp>
      </p:grpSp>
      <p:grpSp>
        <p:nvGrpSpPr>
          <p:cNvPr name="Group 7" id="7"/>
          <p:cNvGrpSpPr/>
          <p:nvPr/>
        </p:nvGrpSpPr>
        <p:grpSpPr>
          <a:xfrm rot="0">
            <a:off x="12985982" y="6183120"/>
            <a:ext cx="3938540" cy="2370851"/>
            <a:chOff x="0" y="0"/>
            <a:chExt cx="5251387" cy="3161135"/>
          </a:xfrm>
        </p:grpSpPr>
        <p:sp>
          <p:nvSpPr>
            <p:cNvPr name="TextBox 8" id="8"/>
            <p:cNvSpPr txBox="true"/>
            <p:nvPr/>
          </p:nvSpPr>
          <p:spPr>
            <a:xfrm rot="0">
              <a:off x="0" y="-66675"/>
              <a:ext cx="5251387" cy="795655"/>
            </a:xfrm>
            <a:prstGeom prst="rect">
              <a:avLst/>
            </a:prstGeom>
          </p:spPr>
          <p:txBody>
            <a:bodyPr anchor="t" rtlCol="false" tIns="0" lIns="0" bIns="0" rIns="0">
              <a:spAutoFit/>
            </a:bodyPr>
            <a:lstStyle/>
            <a:p>
              <a:pPr algn="l" marL="0" indent="0" lvl="0">
                <a:lnSpc>
                  <a:spcPts val="5040"/>
                </a:lnSpc>
                <a:spcBef>
                  <a:spcPct val="0"/>
                </a:spcBef>
              </a:pPr>
              <a:r>
                <a:rPr lang="en-US" sz="3600">
                  <a:solidFill>
                    <a:srgbClr val="E30408"/>
                  </a:solidFill>
                  <a:latin typeface="Alkalami"/>
                  <a:ea typeface="Alkalami"/>
                  <a:cs typeface="Alkalami"/>
                  <a:sym typeface="Alkalami"/>
                </a:rPr>
                <a:t>Goals</a:t>
              </a:r>
            </a:p>
          </p:txBody>
        </p:sp>
        <p:sp>
          <p:nvSpPr>
            <p:cNvPr name="TextBox 9" id="9"/>
            <p:cNvSpPr txBox="true"/>
            <p:nvPr/>
          </p:nvSpPr>
          <p:spPr>
            <a:xfrm rot="0">
              <a:off x="0" y="1311168"/>
              <a:ext cx="5251387" cy="1849967"/>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E30408"/>
                  </a:solidFill>
                  <a:latin typeface="Alkalami"/>
                  <a:ea typeface="Alkalami"/>
                  <a:cs typeface="Alkalami"/>
                  <a:sym typeface="Alkalami"/>
                </a:rPr>
                <a:t>What does your company want to achieve?</a:t>
              </a:r>
            </a:p>
            <a:p>
              <a:pPr algn="l" marL="431801" indent="-215900" lvl="1">
                <a:lnSpc>
                  <a:spcPts val="2800"/>
                </a:lnSpc>
                <a:buFont typeface="Arial"/>
                <a:buChar char="•"/>
              </a:pPr>
              <a:r>
                <a:rPr lang="en-US" sz="2000">
                  <a:solidFill>
                    <a:srgbClr val="E30408"/>
                  </a:solidFill>
                  <a:latin typeface="Alkalami"/>
                  <a:ea typeface="Alkalami"/>
                  <a:cs typeface="Alkalami"/>
                  <a:sym typeface="Alkalami"/>
                </a:rPr>
                <a:t> What are the company's long-term and short-term goals?</a:t>
              </a:r>
            </a:p>
          </p:txBody>
        </p:sp>
      </p:grpSp>
      <p:grpSp>
        <p:nvGrpSpPr>
          <p:cNvPr name="Group 10" id="10"/>
          <p:cNvGrpSpPr>
            <a:grpSpLocks noChangeAspect="true"/>
          </p:cNvGrpSpPr>
          <p:nvPr/>
        </p:nvGrpSpPr>
        <p:grpSpPr>
          <a:xfrm rot="0">
            <a:off x="-805829" y="-2491633"/>
            <a:ext cx="19899659" cy="7959864"/>
            <a:chOff x="0" y="0"/>
            <a:chExt cx="6350000" cy="2540000"/>
          </a:xfrm>
        </p:grpSpPr>
        <p:sp>
          <p:nvSpPr>
            <p:cNvPr name="Freeform 11" id="11"/>
            <p:cNvSpPr/>
            <p:nvPr/>
          </p:nvSpPr>
          <p:spPr>
            <a:xfrm flipH="false" flipV="false" rot="0">
              <a:off x="0" y="0"/>
              <a:ext cx="6350000" cy="2540000"/>
            </a:xfrm>
            <a:custGeom>
              <a:avLst/>
              <a:gdLst/>
              <a:ahLst/>
              <a:cxnLst/>
              <a:rect r="r" b="b" t="t" l="l"/>
              <a:pathLst>
                <a:path h="2540000" w="6350000">
                  <a:moveTo>
                    <a:pt x="0" y="1270000"/>
                  </a:moveTo>
                  <a:lnTo>
                    <a:pt x="0" y="1270000"/>
                  </a:lnTo>
                  <a:cubicBezTo>
                    <a:pt x="0" y="568960"/>
                    <a:pt x="568960" y="0"/>
                    <a:pt x="1270000" y="0"/>
                  </a:cubicBezTo>
                  <a:lnTo>
                    <a:pt x="5080000" y="0"/>
                  </a:lnTo>
                  <a:cubicBezTo>
                    <a:pt x="5781040" y="0"/>
                    <a:pt x="6350000" y="568960"/>
                    <a:pt x="6350000" y="1270000"/>
                  </a:cubicBezTo>
                  <a:lnTo>
                    <a:pt x="6350000" y="1270000"/>
                  </a:lnTo>
                  <a:cubicBezTo>
                    <a:pt x="6350000" y="1971040"/>
                    <a:pt x="5781040" y="2540000"/>
                    <a:pt x="5080000" y="2540000"/>
                  </a:cubicBezTo>
                  <a:lnTo>
                    <a:pt x="1270000" y="2540000"/>
                  </a:lnTo>
                  <a:cubicBezTo>
                    <a:pt x="568960" y="2540000"/>
                    <a:pt x="0" y="1971040"/>
                    <a:pt x="0" y="1270000"/>
                  </a:cubicBezTo>
                  <a:close/>
                </a:path>
              </a:pathLst>
            </a:custGeom>
            <a:blipFill>
              <a:blip r:embed="rId2"/>
              <a:stretch>
                <a:fillRect l="0" t="-4062" r="0" b="-4062"/>
              </a:stretch>
            </a:blipFill>
          </p:spPr>
        </p:sp>
        <p:sp>
          <p:nvSpPr>
            <p:cNvPr name="Freeform 12" id="12"/>
            <p:cNvSpPr/>
            <p:nvPr/>
          </p:nvSpPr>
          <p:spPr>
            <a:xfrm flipH="false" flipV="false" rot="0">
              <a:off x="0" y="0"/>
              <a:ext cx="6350000" cy="2540000"/>
            </a:xfrm>
            <a:custGeom>
              <a:avLst/>
              <a:gdLst/>
              <a:ahLst/>
              <a:cxnLst/>
              <a:rect r="r" b="b" t="t" l="l"/>
              <a:pathLst>
                <a:path h="2540000" w="6350000">
                  <a:moveTo>
                    <a:pt x="5080000" y="19050"/>
                  </a:moveTo>
                  <a:cubicBezTo>
                    <a:pt x="5769610" y="19050"/>
                    <a:pt x="6330950" y="580390"/>
                    <a:pt x="6330950" y="1270000"/>
                  </a:cubicBezTo>
                  <a:cubicBezTo>
                    <a:pt x="6330950" y="1959610"/>
                    <a:pt x="5769610" y="2520950"/>
                    <a:pt x="5080000" y="2520950"/>
                  </a:cubicBezTo>
                  <a:lnTo>
                    <a:pt x="1270000" y="2520950"/>
                  </a:lnTo>
                  <a:cubicBezTo>
                    <a:pt x="580390" y="2520950"/>
                    <a:pt x="19050" y="1959610"/>
                    <a:pt x="19050" y="1270000"/>
                  </a:cubicBezTo>
                  <a:cubicBezTo>
                    <a:pt x="19050" y="580390"/>
                    <a:pt x="580390" y="19050"/>
                    <a:pt x="1270000" y="19050"/>
                  </a:cubicBezTo>
                  <a:lnTo>
                    <a:pt x="5080000" y="19050"/>
                  </a:lnTo>
                  <a:moveTo>
                    <a:pt x="5080000" y="0"/>
                  </a:moveTo>
                  <a:lnTo>
                    <a:pt x="1270000" y="0"/>
                  </a:lnTo>
                  <a:cubicBezTo>
                    <a:pt x="568960" y="0"/>
                    <a:pt x="0" y="568960"/>
                    <a:pt x="0" y="1270000"/>
                  </a:cubicBezTo>
                  <a:cubicBezTo>
                    <a:pt x="0" y="1971040"/>
                    <a:pt x="568960" y="2540000"/>
                    <a:pt x="1270000" y="2540000"/>
                  </a:cubicBezTo>
                  <a:lnTo>
                    <a:pt x="5080000" y="2540000"/>
                  </a:lnTo>
                  <a:cubicBezTo>
                    <a:pt x="5781040" y="2540000"/>
                    <a:pt x="6350000" y="1971040"/>
                    <a:pt x="6350000" y="1270000"/>
                  </a:cubicBezTo>
                  <a:cubicBezTo>
                    <a:pt x="6350000" y="568960"/>
                    <a:pt x="5781040" y="0"/>
                    <a:pt x="5080000" y="0"/>
                  </a:cubicBezTo>
                  <a:lnTo>
                    <a:pt x="5080000" y="0"/>
                  </a:lnTo>
                  <a:close/>
                </a:path>
              </a:pathLst>
            </a:custGeom>
            <a:solidFill>
              <a:srgbClr val="000000"/>
            </a:solidFill>
          </p:spPr>
        </p:sp>
      </p:grpSp>
      <p:sp>
        <p:nvSpPr>
          <p:cNvPr name="TextBox 13" id="13"/>
          <p:cNvSpPr txBox="true"/>
          <p:nvPr/>
        </p:nvSpPr>
        <p:spPr>
          <a:xfrm rot="0">
            <a:off x="12828370" y="990600"/>
            <a:ext cx="4430930" cy="339724"/>
          </a:xfrm>
          <a:prstGeom prst="rect">
            <a:avLst/>
          </a:prstGeom>
        </p:spPr>
        <p:txBody>
          <a:bodyPr anchor="t" rtlCol="false" tIns="0" lIns="0" bIns="0" rIns="0">
            <a:spAutoFit/>
          </a:bodyPr>
          <a:lstStyle/>
          <a:p>
            <a:pPr algn="r">
              <a:lnSpc>
                <a:spcPts val="2800"/>
              </a:lnSpc>
            </a:pPr>
            <a:r>
              <a:rPr lang="en-US" sz="2000">
                <a:solidFill>
                  <a:srgbClr val="E30408"/>
                </a:solidFill>
                <a:latin typeface="Alkalami"/>
                <a:ea typeface="Alkalami"/>
                <a:cs typeface="Alkalami"/>
                <a:sym typeface="Alkalami"/>
              </a:rPr>
              <a:t>Back to Agenda Page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876675"/>
            <a:ext cx="5143175" cy="2733675"/>
          </a:xfrm>
          <a:prstGeom prst="rect">
            <a:avLst/>
          </a:prstGeom>
        </p:spPr>
        <p:txBody>
          <a:bodyPr anchor="t" rtlCol="false" tIns="0" lIns="0" bIns="0" rIns="0">
            <a:spAutoFit/>
          </a:bodyPr>
          <a:lstStyle/>
          <a:p>
            <a:pPr algn="l">
              <a:lnSpc>
                <a:spcPts val="10500"/>
              </a:lnSpc>
            </a:pPr>
            <a:r>
              <a:rPr lang="en-US" sz="10500">
                <a:solidFill>
                  <a:srgbClr val="FFF6EC"/>
                </a:solidFill>
                <a:latin typeface="Bright Retro"/>
                <a:ea typeface="Bright Retro"/>
                <a:cs typeface="Bright Retro"/>
                <a:sym typeface="Bright Retro"/>
              </a:rPr>
              <a:t>About the Company</a:t>
            </a:r>
          </a:p>
        </p:txBody>
      </p:sp>
      <p:grpSp>
        <p:nvGrpSpPr>
          <p:cNvPr name="Group 4" id="4"/>
          <p:cNvGrpSpPr/>
          <p:nvPr/>
        </p:nvGrpSpPr>
        <p:grpSpPr>
          <a:xfrm rot="0">
            <a:off x="7714187" y="786770"/>
            <a:ext cx="9545113" cy="4042464"/>
            <a:chOff x="0" y="0"/>
            <a:chExt cx="12726818" cy="5389951"/>
          </a:xfrm>
        </p:grpSpPr>
        <p:grpSp>
          <p:nvGrpSpPr>
            <p:cNvPr name="Group 5" id="5"/>
            <p:cNvGrpSpPr/>
            <p:nvPr/>
          </p:nvGrpSpPr>
          <p:grpSpPr>
            <a:xfrm rot="0">
              <a:off x="0" y="0"/>
              <a:ext cx="12726818" cy="5389951"/>
              <a:chOff x="0" y="0"/>
              <a:chExt cx="3142611" cy="1330932"/>
            </a:xfrm>
          </p:grpSpPr>
          <p:sp>
            <p:nvSpPr>
              <p:cNvPr name="Freeform 6" id="6"/>
              <p:cNvSpPr/>
              <p:nvPr/>
            </p:nvSpPr>
            <p:spPr>
              <a:xfrm flipH="false" flipV="false" rot="0">
                <a:off x="12700" y="12700"/>
                <a:ext cx="3077842" cy="1262352"/>
              </a:xfrm>
              <a:custGeom>
                <a:avLst/>
                <a:gdLst/>
                <a:ahLst/>
                <a:cxnLst/>
                <a:rect r="r" b="b" t="t" l="l"/>
                <a:pathLst>
                  <a:path h="1262352" w="3077842">
                    <a:moveTo>
                      <a:pt x="146050" y="1262352"/>
                    </a:moveTo>
                    <a:lnTo>
                      <a:pt x="2931792" y="1262352"/>
                    </a:lnTo>
                    <a:cubicBezTo>
                      <a:pt x="3011802" y="1262352"/>
                      <a:pt x="3077842" y="1196312"/>
                      <a:pt x="3077842" y="1116302"/>
                    </a:cubicBezTo>
                    <a:lnTo>
                      <a:pt x="3077842" y="146050"/>
                    </a:lnTo>
                    <a:cubicBezTo>
                      <a:pt x="3077842" y="66040"/>
                      <a:pt x="3011802" y="0"/>
                      <a:pt x="2931792" y="0"/>
                    </a:cubicBezTo>
                    <a:lnTo>
                      <a:pt x="146050" y="0"/>
                    </a:lnTo>
                    <a:cubicBezTo>
                      <a:pt x="66040" y="0"/>
                      <a:pt x="0" y="66040"/>
                      <a:pt x="0" y="146050"/>
                    </a:cubicBezTo>
                    <a:lnTo>
                      <a:pt x="0" y="1116302"/>
                    </a:lnTo>
                    <a:cubicBezTo>
                      <a:pt x="0" y="1197581"/>
                      <a:pt x="66040" y="1262352"/>
                      <a:pt x="146050" y="1262352"/>
                    </a:cubicBezTo>
                    <a:close/>
                  </a:path>
                </a:pathLst>
              </a:custGeom>
              <a:solidFill>
                <a:srgbClr val="FFF6EC"/>
              </a:solidFill>
            </p:spPr>
          </p:sp>
          <p:sp>
            <p:nvSpPr>
              <p:cNvPr name="Freeform 7" id="7"/>
              <p:cNvSpPr/>
              <p:nvPr/>
            </p:nvSpPr>
            <p:spPr>
              <a:xfrm flipH="false" flipV="false" rot="0">
                <a:off x="0" y="0"/>
                <a:ext cx="3142612" cy="1330931"/>
              </a:xfrm>
              <a:custGeom>
                <a:avLst/>
                <a:gdLst/>
                <a:ahLst/>
                <a:cxnLst/>
                <a:rect r="r" b="b" t="t" l="l"/>
                <a:pathLst>
                  <a:path h="1330931" w="3142612">
                    <a:moveTo>
                      <a:pt x="3079111" y="74930"/>
                    </a:moveTo>
                    <a:cubicBezTo>
                      <a:pt x="3051172" y="30480"/>
                      <a:pt x="3001642" y="0"/>
                      <a:pt x="2944492" y="0"/>
                    </a:cubicBezTo>
                    <a:lnTo>
                      <a:pt x="158750" y="0"/>
                    </a:lnTo>
                    <a:cubicBezTo>
                      <a:pt x="71120" y="0"/>
                      <a:pt x="0" y="71120"/>
                      <a:pt x="0" y="158750"/>
                    </a:cubicBezTo>
                    <a:lnTo>
                      <a:pt x="0" y="1129002"/>
                    </a:lnTo>
                    <a:cubicBezTo>
                      <a:pt x="0" y="1181072"/>
                      <a:pt x="25400" y="1226791"/>
                      <a:pt x="63500" y="1256002"/>
                    </a:cubicBezTo>
                    <a:cubicBezTo>
                      <a:pt x="91440" y="1300452"/>
                      <a:pt x="140970" y="1330931"/>
                      <a:pt x="204917" y="1330931"/>
                    </a:cubicBezTo>
                    <a:lnTo>
                      <a:pt x="2983861" y="1330931"/>
                    </a:lnTo>
                    <a:cubicBezTo>
                      <a:pt x="3071492" y="1330931"/>
                      <a:pt x="3142612" y="1259812"/>
                      <a:pt x="3142612" y="1172182"/>
                    </a:cubicBezTo>
                    <a:lnTo>
                      <a:pt x="3142612" y="200126"/>
                    </a:lnTo>
                    <a:cubicBezTo>
                      <a:pt x="3142611" y="149860"/>
                      <a:pt x="3117211" y="104140"/>
                      <a:pt x="3079111" y="74930"/>
                    </a:cubicBezTo>
                    <a:close/>
                    <a:moveTo>
                      <a:pt x="12700" y="1129002"/>
                    </a:moveTo>
                    <a:lnTo>
                      <a:pt x="12700" y="158750"/>
                    </a:lnTo>
                    <a:cubicBezTo>
                      <a:pt x="12700" y="78740"/>
                      <a:pt x="78740" y="12700"/>
                      <a:pt x="158750" y="12700"/>
                    </a:cubicBezTo>
                    <a:lnTo>
                      <a:pt x="2944492" y="12700"/>
                    </a:lnTo>
                    <a:cubicBezTo>
                      <a:pt x="3024502" y="12700"/>
                      <a:pt x="3090542" y="78740"/>
                      <a:pt x="3090542" y="158750"/>
                    </a:cubicBezTo>
                    <a:lnTo>
                      <a:pt x="3090542" y="1129002"/>
                    </a:lnTo>
                    <a:cubicBezTo>
                      <a:pt x="3090542" y="1209012"/>
                      <a:pt x="3024502" y="1275052"/>
                      <a:pt x="2944492" y="1275052"/>
                    </a:cubicBezTo>
                    <a:lnTo>
                      <a:pt x="158750" y="1275052"/>
                    </a:lnTo>
                    <a:cubicBezTo>
                      <a:pt x="78740" y="1275052"/>
                      <a:pt x="12700" y="1210281"/>
                      <a:pt x="12700" y="1129002"/>
                    </a:cubicBezTo>
                    <a:close/>
                  </a:path>
                </a:pathLst>
              </a:custGeom>
              <a:solidFill>
                <a:srgbClr val="000000"/>
              </a:solidFill>
            </p:spPr>
          </p:sp>
        </p:grpSp>
        <p:sp>
          <p:nvSpPr>
            <p:cNvPr name="TextBox 8" id="8"/>
            <p:cNvSpPr txBox="true"/>
            <p:nvPr/>
          </p:nvSpPr>
          <p:spPr>
            <a:xfrm rot="0">
              <a:off x="975236" y="3014837"/>
              <a:ext cx="10886188" cy="11696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Provides global cloud services (computing power, storage, networking) designed for high-performance computing, serving as the scalable and secure backbone for modern workloads.</a:t>
              </a:r>
            </a:p>
          </p:txBody>
        </p:sp>
        <p:sp>
          <p:nvSpPr>
            <p:cNvPr name="TextBox 9" id="9"/>
            <p:cNvSpPr txBox="true"/>
            <p:nvPr/>
          </p:nvSpPr>
          <p:spPr>
            <a:xfrm rot="0">
              <a:off x="975236" y="1036698"/>
              <a:ext cx="10886188" cy="13779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 Oracle Cloud Infrastructure (OCI)</a:t>
              </a:r>
            </a:p>
            <a:p>
              <a:pPr algn="l">
                <a:lnSpc>
                  <a:spcPts val="4200"/>
                </a:lnSpc>
              </a:pPr>
            </a:p>
          </p:txBody>
        </p:sp>
      </p:grpSp>
      <p:grpSp>
        <p:nvGrpSpPr>
          <p:cNvPr name="Group 10" id="10"/>
          <p:cNvGrpSpPr/>
          <p:nvPr/>
        </p:nvGrpSpPr>
        <p:grpSpPr>
          <a:xfrm rot="0">
            <a:off x="7714187" y="5453961"/>
            <a:ext cx="9545113" cy="3509064"/>
            <a:chOff x="0" y="0"/>
            <a:chExt cx="12726818" cy="4678751"/>
          </a:xfrm>
        </p:grpSpPr>
        <p:grpSp>
          <p:nvGrpSpPr>
            <p:cNvPr name="Group 11" id="11"/>
            <p:cNvGrpSpPr/>
            <p:nvPr/>
          </p:nvGrpSpPr>
          <p:grpSpPr>
            <a:xfrm rot="0">
              <a:off x="0" y="0"/>
              <a:ext cx="12726818" cy="4678751"/>
              <a:chOff x="0" y="0"/>
              <a:chExt cx="3142611" cy="1155316"/>
            </a:xfrm>
          </p:grpSpPr>
          <p:sp>
            <p:nvSpPr>
              <p:cNvPr name="Freeform 12" id="12"/>
              <p:cNvSpPr/>
              <p:nvPr/>
            </p:nvSpPr>
            <p:spPr>
              <a:xfrm flipH="false" flipV="false" rot="0">
                <a:off x="12700" y="12700"/>
                <a:ext cx="3077842" cy="1086736"/>
              </a:xfrm>
              <a:custGeom>
                <a:avLst/>
                <a:gdLst/>
                <a:ahLst/>
                <a:cxnLst/>
                <a:rect r="r" b="b" t="t" l="l"/>
                <a:pathLst>
                  <a:path h="1086736" w="3077842">
                    <a:moveTo>
                      <a:pt x="146050" y="1086736"/>
                    </a:moveTo>
                    <a:lnTo>
                      <a:pt x="2931792" y="1086736"/>
                    </a:lnTo>
                    <a:cubicBezTo>
                      <a:pt x="3011802" y="1086736"/>
                      <a:pt x="3077842" y="1020696"/>
                      <a:pt x="3077842" y="940686"/>
                    </a:cubicBezTo>
                    <a:lnTo>
                      <a:pt x="3077842" y="146050"/>
                    </a:lnTo>
                    <a:cubicBezTo>
                      <a:pt x="3077842" y="66040"/>
                      <a:pt x="3011802" y="0"/>
                      <a:pt x="2931792" y="0"/>
                    </a:cubicBezTo>
                    <a:lnTo>
                      <a:pt x="146050" y="0"/>
                    </a:lnTo>
                    <a:cubicBezTo>
                      <a:pt x="66040" y="0"/>
                      <a:pt x="0" y="66040"/>
                      <a:pt x="0" y="146050"/>
                    </a:cubicBezTo>
                    <a:lnTo>
                      <a:pt x="0" y="940686"/>
                    </a:lnTo>
                    <a:cubicBezTo>
                      <a:pt x="0" y="1021966"/>
                      <a:pt x="66040" y="1086736"/>
                      <a:pt x="146050" y="1086736"/>
                    </a:cubicBezTo>
                    <a:close/>
                  </a:path>
                </a:pathLst>
              </a:custGeom>
              <a:solidFill>
                <a:srgbClr val="FFF6EC"/>
              </a:solidFill>
            </p:spPr>
          </p:sp>
          <p:sp>
            <p:nvSpPr>
              <p:cNvPr name="Freeform 13" id="13"/>
              <p:cNvSpPr/>
              <p:nvPr/>
            </p:nvSpPr>
            <p:spPr>
              <a:xfrm flipH="false" flipV="false" rot="0">
                <a:off x="0" y="0"/>
                <a:ext cx="3142612" cy="1155316"/>
              </a:xfrm>
              <a:custGeom>
                <a:avLst/>
                <a:gdLst/>
                <a:ahLst/>
                <a:cxnLst/>
                <a:rect r="r" b="b" t="t" l="l"/>
                <a:pathLst>
                  <a:path h="1155316" w="3142612">
                    <a:moveTo>
                      <a:pt x="3079111" y="74930"/>
                    </a:moveTo>
                    <a:cubicBezTo>
                      <a:pt x="3051172" y="30480"/>
                      <a:pt x="3001642" y="0"/>
                      <a:pt x="2944492" y="0"/>
                    </a:cubicBezTo>
                    <a:lnTo>
                      <a:pt x="158750" y="0"/>
                    </a:lnTo>
                    <a:cubicBezTo>
                      <a:pt x="71120" y="0"/>
                      <a:pt x="0" y="71120"/>
                      <a:pt x="0" y="158750"/>
                    </a:cubicBezTo>
                    <a:lnTo>
                      <a:pt x="0" y="953386"/>
                    </a:lnTo>
                    <a:cubicBezTo>
                      <a:pt x="0" y="1005456"/>
                      <a:pt x="25400" y="1051176"/>
                      <a:pt x="63500" y="1080386"/>
                    </a:cubicBezTo>
                    <a:cubicBezTo>
                      <a:pt x="91440" y="1124836"/>
                      <a:pt x="140970" y="1155316"/>
                      <a:pt x="204917" y="1155316"/>
                    </a:cubicBezTo>
                    <a:lnTo>
                      <a:pt x="2983861" y="1155316"/>
                    </a:lnTo>
                    <a:cubicBezTo>
                      <a:pt x="3071492" y="1155316"/>
                      <a:pt x="3142612" y="1084196"/>
                      <a:pt x="3142612" y="996566"/>
                    </a:cubicBezTo>
                    <a:lnTo>
                      <a:pt x="3142612" y="199215"/>
                    </a:lnTo>
                    <a:cubicBezTo>
                      <a:pt x="3142611" y="149860"/>
                      <a:pt x="3117211" y="104140"/>
                      <a:pt x="3079111" y="74930"/>
                    </a:cubicBezTo>
                    <a:close/>
                    <a:moveTo>
                      <a:pt x="12700" y="953386"/>
                    </a:moveTo>
                    <a:lnTo>
                      <a:pt x="12700" y="158750"/>
                    </a:lnTo>
                    <a:cubicBezTo>
                      <a:pt x="12700" y="78740"/>
                      <a:pt x="78740" y="12700"/>
                      <a:pt x="158750" y="12700"/>
                    </a:cubicBezTo>
                    <a:lnTo>
                      <a:pt x="2944492" y="12700"/>
                    </a:lnTo>
                    <a:cubicBezTo>
                      <a:pt x="3024502" y="12700"/>
                      <a:pt x="3090542" y="78740"/>
                      <a:pt x="3090542" y="158750"/>
                    </a:cubicBezTo>
                    <a:lnTo>
                      <a:pt x="3090542" y="953386"/>
                    </a:lnTo>
                    <a:cubicBezTo>
                      <a:pt x="3090542" y="1033396"/>
                      <a:pt x="3024502" y="1099436"/>
                      <a:pt x="2944492" y="1099436"/>
                    </a:cubicBezTo>
                    <a:lnTo>
                      <a:pt x="158750" y="1099436"/>
                    </a:lnTo>
                    <a:cubicBezTo>
                      <a:pt x="78740" y="1099436"/>
                      <a:pt x="12700" y="1034666"/>
                      <a:pt x="12700" y="953386"/>
                    </a:cubicBezTo>
                    <a:close/>
                  </a:path>
                </a:pathLst>
              </a:custGeom>
              <a:solidFill>
                <a:srgbClr val="000000"/>
              </a:solidFill>
            </p:spPr>
          </p:sp>
        </p:grpSp>
        <p:sp>
          <p:nvSpPr>
            <p:cNvPr name="TextBox 14" id="14"/>
            <p:cNvSpPr txBox="true"/>
            <p:nvPr/>
          </p:nvSpPr>
          <p:spPr>
            <a:xfrm rot="0">
              <a:off x="975236" y="2325778"/>
              <a:ext cx="10886188" cy="11696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A broad portfolio of cloud-based business applications, including Fusion ERP, Fusion HCM (Human Capital Management), and NetSuite, managing critical functions (finance, HR, supply chain).</a:t>
              </a:r>
            </a:p>
          </p:txBody>
        </p:sp>
        <p:sp>
          <p:nvSpPr>
            <p:cNvPr name="TextBox 15" id="15"/>
            <p:cNvSpPr txBox="true"/>
            <p:nvPr/>
          </p:nvSpPr>
          <p:spPr>
            <a:xfrm rot="0">
              <a:off x="975236" y="1058839"/>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Cloud Applications (SaaS)</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876675"/>
            <a:ext cx="5143175" cy="2733675"/>
          </a:xfrm>
          <a:prstGeom prst="rect">
            <a:avLst/>
          </a:prstGeom>
        </p:spPr>
        <p:txBody>
          <a:bodyPr anchor="t" rtlCol="false" tIns="0" lIns="0" bIns="0" rIns="0">
            <a:spAutoFit/>
          </a:bodyPr>
          <a:lstStyle/>
          <a:p>
            <a:pPr algn="l">
              <a:lnSpc>
                <a:spcPts val="10500"/>
              </a:lnSpc>
            </a:pPr>
            <a:r>
              <a:rPr lang="en-US" sz="10500">
                <a:solidFill>
                  <a:srgbClr val="FFF6EC"/>
                </a:solidFill>
                <a:latin typeface="Bright Retro"/>
                <a:ea typeface="Bright Retro"/>
                <a:cs typeface="Bright Retro"/>
                <a:sym typeface="Bright Retro"/>
              </a:rPr>
              <a:t>About the Company</a:t>
            </a:r>
          </a:p>
        </p:txBody>
      </p:sp>
      <p:grpSp>
        <p:nvGrpSpPr>
          <p:cNvPr name="Group 4" id="4"/>
          <p:cNvGrpSpPr/>
          <p:nvPr/>
        </p:nvGrpSpPr>
        <p:grpSpPr>
          <a:xfrm rot="0">
            <a:off x="7714187" y="1201107"/>
            <a:ext cx="9545113" cy="3213789"/>
            <a:chOff x="0" y="0"/>
            <a:chExt cx="12726818" cy="4285051"/>
          </a:xfrm>
        </p:grpSpPr>
        <p:grpSp>
          <p:nvGrpSpPr>
            <p:cNvPr name="Group 5" id="5"/>
            <p:cNvGrpSpPr/>
            <p:nvPr/>
          </p:nvGrpSpPr>
          <p:grpSpPr>
            <a:xfrm rot="0">
              <a:off x="0" y="0"/>
              <a:ext cx="12726818" cy="4285051"/>
              <a:chOff x="0" y="0"/>
              <a:chExt cx="3142611" cy="1058100"/>
            </a:xfrm>
          </p:grpSpPr>
          <p:sp>
            <p:nvSpPr>
              <p:cNvPr name="Freeform 6" id="6"/>
              <p:cNvSpPr/>
              <p:nvPr/>
            </p:nvSpPr>
            <p:spPr>
              <a:xfrm flipH="false" flipV="false" rot="0">
                <a:off x="12700" y="12700"/>
                <a:ext cx="3077842" cy="989521"/>
              </a:xfrm>
              <a:custGeom>
                <a:avLst/>
                <a:gdLst/>
                <a:ahLst/>
                <a:cxnLst/>
                <a:rect r="r" b="b" t="t" l="l"/>
                <a:pathLst>
                  <a:path h="989521" w="3077842">
                    <a:moveTo>
                      <a:pt x="146050" y="989521"/>
                    </a:moveTo>
                    <a:lnTo>
                      <a:pt x="2931792" y="989521"/>
                    </a:lnTo>
                    <a:cubicBezTo>
                      <a:pt x="3011802" y="989521"/>
                      <a:pt x="3077842" y="923481"/>
                      <a:pt x="3077842" y="843471"/>
                    </a:cubicBezTo>
                    <a:lnTo>
                      <a:pt x="3077842" y="146050"/>
                    </a:lnTo>
                    <a:cubicBezTo>
                      <a:pt x="3077842" y="66040"/>
                      <a:pt x="3011802" y="0"/>
                      <a:pt x="2931792" y="0"/>
                    </a:cubicBezTo>
                    <a:lnTo>
                      <a:pt x="146050" y="0"/>
                    </a:lnTo>
                    <a:cubicBezTo>
                      <a:pt x="66040" y="0"/>
                      <a:pt x="0" y="66040"/>
                      <a:pt x="0" y="146050"/>
                    </a:cubicBezTo>
                    <a:lnTo>
                      <a:pt x="0" y="843471"/>
                    </a:lnTo>
                    <a:cubicBezTo>
                      <a:pt x="0" y="924750"/>
                      <a:pt x="66040" y="989521"/>
                      <a:pt x="146050" y="989521"/>
                    </a:cubicBezTo>
                    <a:close/>
                  </a:path>
                </a:pathLst>
              </a:custGeom>
              <a:solidFill>
                <a:srgbClr val="FFF6EC"/>
              </a:solidFill>
            </p:spPr>
          </p:sp>
          <p:sp>
            <p:nvSpPr>
              <p:cNvPr name="Freeform 7" id="7"/>
              <p:cNvSpPr/>
              <p:nvPr/>
            </p:nvSpPr>
            <p:spPr>
              <a:xfrm flipH="false" flipV="false" rot="0">
                <a:off x="0" y="0"/>
                <a:ext cx="3142612" cy="1058100"/>
              </a:xfrm>
              <a:custGeom>
                <a:avLst/>
                <a:gdLst/>
                <a:ahLst/>
                <a:cxnLst/>
                <a:rect r="r" b="b" t="t" l="l"/>
                <a:pathLst>
                  <a:path h="1058100" w="3142612">
                    <a:moveTo>
                      <a:pt x="3079111" y="74930"/>
                    </a:moveTo>
                    <a:cubicBezTo>
                      <a:pt x="3051172" y="30480"/>
                      <a:pt x="3001642" y="0"/>
                      <a:pt x="2944492" y="0"/>
                    </a:cubicBezTo>
                    <a:lnTo>
                      <a:pt x="158750" y="0"/>
                    </a:lnTo>
                    <a:cubicBezTo>
                      <a:pt x="71120" y="0"/>
                      <a:pt x="0" y="71120"/>
                      <a:pt x="0" y="158750"/>
                    </a:cubicBezTo>
                    <a:lnTo>
                      <a:pt x="0" y="856171"/>
                    </a:lnTo>
                    <a:cubicBezTo>
                      <a:pt x="0" y="908240"/>
                      <a:pt x="25400" y="953960"/>
                      <a:pt x="63500" y="983171"/>
                    </a:cubicBezTo>
                    <a:cubicBezTo>
                      <a:pt x="91440" y="1027621"/>
                      <a:pt x="140970" y="1058100"/>
                      <a:pt x="204917" y="1058100"/>
                    </a:cubicBezTo>
                    <a:lnTo>
                      <a:pt x="2983861" y="1058100"/>
                    </a:lnTo>
                    <a:cubicBezTo>
                      <a:pt x="3071492" y="1058100"/>
                      <a:pt x="3142612" y="986981"/>
                      <a:pt x="3142612" y="899351"/>
                    </a:cubicBezTo>
                    <a:lnTo>
                      <a:pt x="3142612" y="198711"/>
                    </a:lnTo>
                    <a:cubicBezTo>
                      <a:pt x="3142611" y="149860"/>
                      <a:pt x="3117211" y="104140"/>
                      <a:pt x="3079111" y="74930"/>
                    </a:cubicBezTo>
                    <a:close/>
                    <a:moveTo>
                      <a:pt x="12700" y="856171"/>
                    </a:moveTo>
                    <a:lnTo>
                      <a:pt x="12700" y="158750"/>
                    </a:lnTo>
                    <a:cubicBezTo>
                      <a:pt x="12700" y="78740"/>
                      <a:pt x="78740" y="12700"/>
                      <a:pt x="158750" y="12700"/>
                    </a:cubicBezTo>
                    <a:lnTo>
                      <a:pt x="2944492" y="12700"/>
                    </a:lnTo>
                    <a:cubicBezTo>
                      <a:pt x="3024502" y="12700"/>
                      <a:pt x="3090542" y="78740"/>
                      <a:pt x="3090542" y="158750"/>
                    </a:cubicBezTo>
                    <a:lnTo>
                      <a:pt x="3090542" y="856171"/>
                    </a:lnTo>
                    <a:cubicBezTo>
                      <a:pt x="3090542" y="936181"/>
                      <a:pt x="3024502" y="1002221"/>
                      <a:pt x="2944492" y="1002221"/>
                    </a:cubicBezTo>
                    <a:lnTo>
                      <a:pt x="158750" y="1002221"/>
                    </a:lnTo>
                    <a:cubicBezTo>
                      <a:pt x="78740" y="1002221"/>
                      <a:pt x="12700" y="937450"/>
                      <a:pt x="12700" y="856171"/>
                    </a:cubicBezTo>
                    <a:close/>
                  </a:path>
                </a:pathLst>
              </a:custGeom>
              <a:solidFill>
                <a:srgbClr val="000000"/>
              </a:solidFill>
            </p:spPr>
          </p:sp>
        </p:grpSp>
        <p:sp>
          <p:nvSpPr>
            <p:cNvPr name="TextBox 8" id="8"/>
            <p:cNvSpPr txBox="true"/>
            <p:nvPr/>
          </p:nvSpPr>
          <p:spPr>
            <a:xfrm rot="0">
              <a:off x="975236" y="2303637"/>
              <a:ext cx="10886188" cy="7759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The flagship Oracle Database, which remains the gold standard for mission-critical data management, renowned for its reliability and performance.</a:t>
              </a:r>
            </a:p>
          </p:txBody>
        </p:sp>
        <p:sp>
          <p:nvSpPr>
            <p:cNvPr name="TextBox 9" id="9"/>
            <p:cNvSpPr txBox="true"/>
            <p:nvPr/>
          </p:nvSpPr>
          <p:spPr>
            <a:xfrm rot="0">
              <a:off x="975236" y="1036698"/>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Database Technology</a:t>
              </a:r>
            </a:p>
          </p:txBody>
        </p:sp>
      </p:grpSp>
      <p:grpSp>
        <p:nvGrpSpPr>
          <p:cNvPr name="Group 10" id="10"/>
          <p:cNvGrpSpPr/>
          <p:nvPr/>
        </p:nvGrpSpPr>
        <p:grpSpPr>
          <a:xfrm rot="0">
            <a:off x="7714187" y="5601599"/>
            <a:ext cx="9545113" cy="3213789"/>
            <a:chOff x="0" y="0"/>
            <a:chExt cx="12726818" cy="4285051"/>
          </a:xfrm>
        </p:grpSpPr>
        <p:grpSp>
          <p:nvGrpSpPr>
            <p:cNvPr name="Group 11" id="11"/>
            <p:cNvGrpSpPr/>
            <p:nvPr/>
          </p:nvGrpSpPr>
          <p:grpSpPr>
            <a:xfrm rot="0">
              <a:off x="0" y="0"/>
              <a:ext cx="12726818" cy="4285051"/>
              <a:chOff x="0" y="0"/>
              <a:chExt cx="3142611" cy="1058100"/>
            </a:xfrm>
          </p:grpSpPr>
          <p:sp>
            <p:nvSpPr>
              <p:cNvPr name="Freeform 12" id="12"/>
              <p:cNvSpPr/>
              <p:nvPr/>
            </p:nvSpPr>
            <p:spPr>
              <a:xfrm flipH="false" flipV="false" rot="0">
                <a:off x="12700" y="12700"/>
                <a:ext cx="3077842" cy="989521"/>
              </a:xfrm>
              <a:custGeom>
                <a:avLst/>
                <a:gdLst/>
                <a:ahLst/>
                <a:cxnLst/>
                <a:rect r="r" b="b" t="t" l="l"/>
                <a:pathLst>
                  <a:path h="989521" w="3077842">
                    <a:moveTo>
                      <a:pt x="146050" y="989521"/>
                    </a:moveTo>
                    <a:lnTo>
                      <a:pt x="2931792" y="989521"/>
                    </a:lnTo>
                    <a:cubicBezTo>
                      <a:pt x="3011802" y="989521"/>
                      <a:pt x="3077842" y="923481"/>
                      <a:pt x="3077842" y="843471"/>
                    </a:cubicBezTo>
                    <a:lnTo>
                      <a:pt x="3077842" y="146050"/>
                    </a:lnTo>
                    <a:cubicBezTo>
                      <a:pt x="3077842" y="66040"/>
                      <a:pt x="3011802" y="0"/>
                      <a:pt x="2931792" y="0"/>
                    </a:cubicBezTo>
                    <a:lnTo>
                      <a:pt x="146050" y="0"/>
                    </a:lnTo>
                    <a:cubicBezTo>
                      <a:pt x="66040" y="0"/>
                      <a:pt x="0" y="66040"/>
                      <a:pt x="0" y="146050"/>
                    </a:cubicBezTo>
                    <a:lnTo>
                      <a:pt x="0" y="843471"/>
                    </a:lnTo>
                    <a:cubicBezTo>
                      <a:pt x="0" y="924750"/>
                      <a:pt x="66040" y="989521"/>
                      <a:pt x="146050" y="989521"/>
                    </a:cubicBezTo>
                    <a:close/>
                  </a:path>
                </a:pathLst>
              </a:custGeom>
              <a:solidFill>
                <a:srgbClr val="FFF6EC"/>
              </a:solidFill>
            </p:spPr>
          </p:sp>
          <p:sp>
            <p:nvSpPr>
              <p:cNvPr name="Freeform 13" id="13"/>
              <p:cNvSpPr/>
              <p:nvPr/>
            </p:nvSpPr>
            <p:spPr>
              <a:xfrm flipH="false" flipV="false" rot="0">
                <a:off x="0" y="0"/>
                <a:ext cx="3142612" cy="1058100"/>
              </a:xfrm>
              <a:custGeom>
                <a:avLst/>
                <a:gdLst/>
                <a:ahLst/>
                <a:cxnLst/>
                <a:rect r="r" b="b" t="t" l="l"/>
                <a:pathLst>
                  <a:path h="1058100" w="3142612">
                    <a:moveTo>
                      <a:pt x="3079111" y="74930"/>
                    </a:moveTo>
                    <a:cubicBezTo>
                      <a:pt x="3051172" y="30480"/>
                      <a:pt x="3001642" y="0"/>
                      <a:pt x="2944492" y="0"/>
                    </a:cubicBezTo>
                    <a:lnTo>
                      <a:pt x="158750" y="0"/>
                    </a:lnTo>
                    <a:cubicBezTo>
                      <a:pt x="71120" y="0"/>
                      <a:pt x="0" y="71120"/>
                      <a:pt x="0" y="158750"/>
                    </a:cubicBezTo>
                    <a:lnTo>
                      <a:pt x="0" y="856171"/>
                    </a:lnTo>
                    <a:cubicBezTo>
                      <a:pt x="0" y="908240"/>
                      <a:pt x="25400" y="953960"/>
                      <a:pt x="63500" y="983171"/>
                    </a:cubicBezTo>
                    <a:cubicBezTo>
                      <a:pt x="91440" y="1027621"/>
                      <a:pt x="140970" y="1058100"/>
                      <a:pt x="204917" y="1058100"/>
                    </a:cubicBezTo>
                    <a:lnTo>
                      <a:pt x="2983861" y="1058100"/>
                    </a:lnTo>
                    <a:cubicBezTo>
                      <a:pt x="3071492" y="1058100"/>
                      <a:pt x="3142612" y="986981"/>
                      <a:pt x="3142612" y="899351"/>
                    </a:cubicBezTo>
                    <a:lnTo>
                      <a:pt x="3142612" y="198711"/>
                    </a:lnTo>
                    <a:cubicBezTo>
                      <a:pt x="3142611" y="149860"/>
                      <a:pt x="3117211" y="104140"/>
                      <a:pt x="3079111" y="74930"/>
                    </a:cubicBezTo>
                    <a:close/>
                    <a:moveTo>
                      <a:pt x="12700" y="856171"/>
                    </a:moveTo>
                    <a:lnTo>
                      <a:pt x="12700" y="158750"/>
                    </a:lnTo>
                    <a:cubicBezTo>
                      <a:pt x="12700" y="78740"/>
                      <a:pt x="78740" y="12700"/>
                      <a:pt x="158750" y="12700"/>
                    </a:cubicBezTo>
                    <a:lnTo>
                      <a:pt x="2944492" y="12700"/>
                    </a:lnTo>
                    <a:cubicBezTo>
                      <a:pt x="3024502" y="12700"/>
                      <a:pt x="3090542" y="78740"/>
                      <a:pt x="3090542" y="158750"/>
                    </a:cubicBezTo>
                    <a:lnTo>
                      <a:pt x="3090542" y="856171"/>
                    </a:lnTo>
                    <a:cubicBezTo>
                      <a:pt x="3090542" y="936181"/>
                      <a:pt x="3024502" y="1002221"/>
                      <a:pt x="2944492" y="1002221"/>
                    </a:cubicBezTo>
                    <a:lnTo>
                      <a:pt x="158750" y="1002221"/>
                    </a:lnTo>
                    <a:cubicBezTo>
                      <a:pt x="78740" y="1002221"/>
                      <a:pt x="12700" y="937450"/>
                      <a:pt x="12700" y="856171"/>
                    </a:cubicBezTo>
                    <a:close/>
                  </a:path>
                </a:pathLst>
              </a:custGeom>
              <a:solidFill>
                <a:srgbClr val="000000"/>
              </a:solidFill>
            </p:spPr>
          </p:sp>
        </p:grpSp>
        <p:sp>
          <p:nvSpPr>
            <p:cNvPr name="TextBox 14" id="14"/>
            <p:cNvSpPr txBox="true"/>
            <p:nvPr/>
          </p:nvSpPr>
          <p:spPr>
            <a:xfrm rot="0">
              <a:off x="975236" y="2325778"/>
              <a:ext cx="10886188" cy="7759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Includes engineered systems and servers, primarily for customers seeking integrated hardware/software solutions.</a:t>
              </a:r>
            </a:p>
          </p:txBody>
        </p:sp>
        <p:sp>
          <p:nvSpPr>
            <p:cNvPr name="TextBox 15" id="15"/>
            <p:cNvSpPr txBox="true"/>
            <p:nvPr/>
          </p:nvSpPr>
          <p:spPr>
            <a:xfrm rot="0">
              <a:off x="975236" y="1058839"/>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Hardware and Systems</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9912" y="3209925"/>
            <a:ext cx="6685487" cy="4067175"/>
          </a:xfrm>
          <a:prstGeom prst="rect">
            <a:avLst/>
          </a:prstGeom>
        </p:spPr>
        <p:txBody>
          <a:bodyPr anchor="t" rtlCol="false" tIns="0" lIns="0" bIns="0" rIns="0">
            <a:spAutoFit/>
          </a:bodyPr>
          <a:lstStyle/>
          <a:p>
            <a:pPr algn="ctr">
              <a:lnSpc>
                <a:spcPts val="10500"/>
              </a:lnSpc>
            </a:pPr>
            <a:r>
              <a:rPr lang="en-US" sz="10500">
                <a:solidFill>
                  <a:srgbClr val="FFF6EC"/>
                </a:solidFill>
                <a:latin typeface="Bright Retro"/>
                <a:ea typeface="Bright Retro"/>
                <a:cs typeface="Bright Retro"/>
                <a:sym typeface="Bright Retro"/>
              </a:rPr>
              <a:t>Most Significant Achievement</a:t>
            </a:r>
          </a:p>
        </p:txBody>
      </p:sp>
      <p:grpSp>
        <p:nvGrpSpPr>
          <p:cNvPr name="Group 4" id="4"/>
          <p:cNvGrpSpPr/>
          <p:nvPr/>
        </p:nvGrpSpPr>
        <p:grpSpPr>
          <a:xfrm rot="0">
            <a:off x="7714187" y="1053470"/>
            <a:ext cx="9545113" cy="3509064"/>
            <a:chOff x="0" y="0"/>
            <a:chExt cx="12726818" cy="4678751"/>
          </a:xfrm>
        </p:grpSpPr>
        <p:grpSp>
          <p:nvGrpSpPr>
            <p:cNvPr name="Group 5" id="5"/>
            <p:cNvGrpSpPr/>
            <p:nvPr/>
          </p:nvGrpSpPr>
          <p:grpSpPr>
            <a:xfrm rot="0">
              <a:off x="0" y="0"/>
              <a:ext cx="12726818" cy="4678751"/>
              <a:chOff x="0" y="0"/>
              <a:chExt cx="3142611" cy="1155316"/>
            </a:xfrm>
          </p:grpSpPr>
          <p:sp>
            <p:nvSpPr>
              <p:cNvPr name="Freeform 6" id="6"/>
              <p:cNvSpPr/>
              <p:nvPr/>
            </p:nvSpPr>
            <p:spPr>
              <a:xfrm flipH="false" flipV="false" rot="0">
                <a:off x="12700" y="12700"/>
                <a:ext cx="3077842" cy="1086736"/>
              </a:xfrm>
              <a:custGeom>
                <a:avLst/>
                <a:gdLst/>
                <a:ahLst/>
                <a:cxnLst/>
                <a:rect r="r" b="b" t="t" l="l"/>
                <a:pathLst>
                  <a:path h="1086736" w="3077842">
                    <a:moveTo>
                      <a:pt x="146050" y="1086736"/>
                    </a:moveTo>
                    <a:lnTo>
                      <a:pt x="2931792" y="1086736"/>
                    </a:lnTo>
                    <a:cubicBezTo>
                      <a:pt x="3011802" y="1086736"/>
                      <a:pt x="3077842" y="1020696"/>
                      <a:pt x="3077842" y="940686"/>
                    </a:cubicBezTo>
                    <a:lnTo>
                      <a:pt x="3077842" y="146050"/>
                    </a:lnTo>
                    <a:cubicBezTo>
                      <a:pt x="3077842" y="66040"/>
                      <a:pt x="3011802" y="0"/>
                      <a:pt x="2931792" y="0"/>
                    </a:cubicBezTo>
                    <a:lnTo>
                      <a:pt x="146050" y="0"/>
                    </a:lnTo>
                    <a:cubicBezTo>
                      <a:pt x="66040" y="0"/>
                      <a:pt x="0" y="66040"/>
                      <a:pt x="0" y="146050"/>
                    </a:cubicBezTo>
                    <a:lnTo>
                      <a:pt x="0" y="940686"/>
                    </a:lnTo>
                    <a:cubicBezTo>
                      <a:pt x="0" y="1021966"/>
                      <a:pt x="66040" y="1086736"/>
                      <a:pt x="146050" y="1086736"/>
                    </a:cubicBezTo>
                    <a:close/>
                  </a:path>
                </a:pathLst>
              </a:custGeom>
              <a:solidFill>
                <a:srgbClr val="FFF6EC"/>
              </a:solidFill>
            </p:spPr>
          </p:sp>
          <p:sp>
            <p:nvSpPr>
              <p:cNvPr name="Freeform 7" id="7"/>
              <p:cNvSpPr/>
              <p:nvPr/>
            </p:nvSpPr>
            <p:spPr>
              <a:xfrm flipH="false" flipV="false" rot="0">
                <a:off x="0" y="0"/>
                <a:ext cx="3142612" cy="1155316"/>
              </a:xfrm>
              <a:custGeom>
                <a:avLst/>
                <a:gdLst/>
                <a:ahLst/>
                <a:cxnLst/>
                <a:rect r="r" b="b" t="t" l="l"/>
                <a:pathLst>
                  <a:path h="1155316" w="3142612">
                    <a:moveTo>
                      <a:pt x="3079111" y="74930"/>
                    </a:moveTo>
                    <a:cubicBezTo>
                      <a:pt x="3051172" y="30480"/>
                      <a:pt x="3001642" y="0"/>
                      <a:pt x="2944492" y="0"/>
                    </a:cubicBezTo>
                    <a:lnTo>
                      <a:pt x="158750" y="0"/>
                    </a:lnTo>
                    <a:cubicBezTo>
                      <a:pt x="71120" y="0"/>
                      <a:pt x="0" y="71120"/>
                      <a:pt x="0" y="158750"/>
                    </a:cubicBezTo>
                    <a:lnTo>
                      <a:pt x="0" y="953386"/>
                    </a:lnTo>
                    <a:cubicBezTo>
                      <a:pt x="0" y="1005456"/>
                      <a:pt x="25400" y="1051176"/>
                      <a:pt x="63500" y="1080386"/>
                    </a:cubicBezTo>
                    <a:cubicBezTo>
                      <a:pt x="91440" y="1124836"/>
                      <a:pt x="140970" y="1155316"/>
                      <a:pt x="204917" y="1155316"/>
                    </a:cubicBezTo>
                    <a:lnTo>
                      <a:pt x="2983861" y="1155316"/>
                    </a:lnTo>
                    <a:cubicBezTo>
                      <a:pt x="3071492" y="1155316"/>
                      <a:pt x="3142612" y="1084196"/>
                      <a:pt x="3142612" y="996566"/>
                    </a:cubicBezTo>
                    <a:lnTo>
                      <a:pt x="3142612" y="199215"/>
                    </a:lnTo>
                    <a:cubicBezTo>
                      <a:pt x="3142611" y="149860"/>
                      <a:pt x="3117211" y="104140"/>
                      <a:pt x="3079111" y="74930"/>
                    </a:cubicBezTo>
                    <a:close/>
                    <a:moveTo>
                      <a:pt x="12700" y="953386"/>
                    </a:moveTo>
                    <a:lnTo>
                      <a:pt x="12700" y="158750"/>
                    </a:lnTo>
                    <a:cubicBezTo>
                      <a:pt x="12700" y="78740"/>
                      <a:pt x="78740" y="12700"/>
                      <a:pt x="158750" y="12700"/>
                    </a:cubicBezTo>
                    <a:lnTo>
                      <a:pt x="2944492" y="12700"/>
                    </a:lnTo>
                    <a:cubicBezTo>
                      <a:pt x="3024502" y="12700"/>
                      <a:pt x="3090542" y="78740"/>
                      <a:pt x="3090542" y="158750"/>
                    </a:cubicBezTo>
                    <a:lnTo>
                      <a:pt x="3090542" y="953386"/>
                    </a:lnTo>
                    <a:cubicBezTo>
                      <a:pt x="3090542" y="1033396"/>
                      <a:pt x="3024502" y="1099436"/>
                      <a:pt x="2944492" y="1099436"/>
                    </a:cubicBezTo>
                    <a:lnTo>
                      <a:pt x="158750" y="1099436"/>
                    </a:lnTo>
                    <a:cubicBezTo>
                      <a:pt x="78740" y="1099436"/>
                      <a:pt x="12700" y="1034666"/>
                      <a:pt x="12700" y="953386"/>
                    </a:cubicBezTo>
                    <a:close/>
                  </a:path>
                </a:pathLst>
              </a:custGeom>
              <a:solidFill>
                <a:srgbClr val="000000"/>
              </a:solidFill>
            </p:spPr>
          </p:sp>
        </p:grpSp>
        <p:sp>
          <p:nvSpPr>
            <p:cNvPr name="TextBox 8" id="8"/>
            <p:cNvSpPr txBox="true"/>
            <p:nvPr/>
          </p:nvSpPr>
          <p:spPr>
            <a:xfrm rot="0">
              <a:off x="975236" y="2303637"/>
              <a:ext cx="10886188" cy="11696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Oracle's most profound achievement was successfully commercializing the Relational Model and SQL, making it the robust, global standard for enterprise data management.</a:t>
              </a:r>
            </a:p>
          </p:txBody>
        </p:sp>
        <p:sp>
          <p:nvSpPr>
            <p:cNvPr name="TextBox 9" id="9"/>
            <p:cNvSpPr txBox="true"/>
            <p:nvPr/>
          </p:nvSpPr>
          <p:spPr>
            <a:xfrm rot="0">
              <a:off x="975236" y="1036698"/>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While not the inventor of the theory</a:t>
              </a:r>
            </a:p>
          </p:txBody>
        </p:sp>
      </p:grpSp>
      <p:grpSp>
        <p:nvGrpSpPr>
          <p:cNvPr name="Group 10" id="10"/>
          <p:cNvGrpSpPr/>
          <p:nvPr/>
        </p:nvGrpSpPr>
        <p:grpSpPr>
          <a:xfrm rot="0">
            <a:off x="7714187" y="5306324"/>
            <a:ext cx="9545113" cy="3804339"/>
            <a:chOff x="0" y="0"/>
            <a:chExt cx="12726818" cy="5072451"/>
          </a:xfrm>
        </p:grpSpPr>
        <p:grpSp>
          <p:nvGrpSpPr>
            <p:cNvPr name="Group 11" id="11"/>
            <p:cNvGrpSpPr/>
            <p:nvPr/>
          </p:nvGrpSpPr>
          <p:grpSpPr>
            <a:xfrm rot="0">
              <a:off x="0" y="0"/>
              <a:ext cx="12726818" cy="5072451"/>
              <a:chOff x="0" y="0"/>
              <a:chExt cx="3142611" cy="1252532"/>
            </a:xfrm>
          </p:grpSpPr>
          <p:sp>
            <p:nvSpPr>
              <p:cNvPr name="Freeform 12" id="12"/>
              <p:cNvSpPr/>
              <p:nvPr/>
            </p:nvSpPr>
            <p:spPr>
              <a:xfrm flipH="false" flipV="false" rot="0">
                <a:off x="12700" y="12700"/>
                <a:ext cx="3077842" cy="1183952"/>
              </a:xfrm>
              <a:custGeom>
                <a:avLst/>
                <a:gdLst/>
                <a:ahLst/>
                <a:cxnLst/>
                <a:rect r="r" b="b" t="t" l="l"/>
                <a:pathLst>
                  <a:path h="1183952" w="3077842">
                    <a:moveTo>
                      <a:pt x="146050" y="1183952"/>
                    </a:moveTo>
                    <a:lnTo>
                      <a:pt x="2931792" y="1183952"/>
                    </a:lnTo>
                    <a:cubicBezTo>
                      <a:pt x="3011802" y="1183952"/>
                      <a:pt x="3077842" y="1117912"/>
                      <a:pt x="3077842" y="1037902"/>
                    </a:cubicBezTo>
                    <a:lnTo>
                      <a:pt x="3077842" y="146050"/>
                    </a:lnTo>
                    <a:cubicBezTo>
                      <a:pt x="3077842" y="66040"/>
                      <a:pt x="3011802" y="0"/>
                      <a:pt x="2931792" y="0"/>
                    </a:cubicBezTo>
                    <a:lnTo>
                      <a:pt x="146050" y="0"/>
                    </a:lnTo>
                    <a:cubicBezTo>
                      <a:pt x="66040" y="0"/>
                      <a:pt x="0" y="66040"/>
                      <a:pt x="0" y="146050"/>
                    </a:cubicBezTo>
                    <a:lnTo>
                      <a:pt x="0" y="1037902"/>
                    </a:lnTo>
                    <a:cubicBezTo>
                      <a:pt x="0" y="1119182"/>
                      <a:pt x="66040" y="1183952"/>
                      <a:pt x="146050" y="1183952"/>
                    </a:cubicBezTo>
                    <a:close/>
                  </a:path>
                </a:pathLst>
              </a:custGeom>
              <a:solidFill>
                <a:srgbClr val="FFF6EC"/>
              </a:solidFill>
            </p:spPr>
          </p:sp>
          <p:sp>
            <p:nvSpPr>
              <p:cNvPr name="Freeform 13" id="13"/>
              <p:cNvSpPr/>
              <p:nvPr/>
            </p:nvSpPr>
            <p:spPr>
              <a:xfrm flipH="false" flipV="false" rot="0">
                <a:off x="0" y="0"/>
                <a:ext cx="3142612" cy="1252532"/>
              </a:xfrm>
              <a:custGeom>
                <a:avLst/>
                <a:gdLst/>
                <a:ahLst/>
                <a:cxnLst/>
                <a:rect r="r" b="b" t="t" l="l"/>
                <a:pathLst>
                  <a:path h="1252532" w="3142612">
                    <a:moveTo>
                      <a:pt x="3079111" y="74930"/>
                    </a:moveTo>
                    <a:cubicBezTo>
                      <a:pt x="3051172" y="30480"/>
                      <a:pt x="3001642" y="0"/>
                      <a:pt x="2944492" y="0"/>
                    </a:cubicBezTo>
                    <a:lnTo>
                      <a:pt x="158750" y="0"/>
                    </a:lnTo>
                    <a:cubicBezTo>
                      <a:pt x="71120" y="0"/>
                      <a:pt x="0" y="71120"/>
                      <a:pt x="0" y="158750"/>
                    </a:cubicBezTo>
                    <a:lnTo>
                      <a:pt x="0" y="1050602"/>
                    </a:lnTo>
                    <a:cubicBezTo>
                      <a:pt x="0" y="1102672"/>
                      <a:pt x="25400" y="1148392"/>
                      <a:pt x="63500" y="1177602"/>
                    </a:cubicBezTo>
                    <a:cubicBezTo>
                      <a:pt x="91440" y="1222052"/>
                      <a:pt x="140970" y="1252532"/>
                      <a:pt x="204917" y="1252532"/>
                    </a:cubicBezTo>
                    <a:lnTo>
                      <a:pt x="2983861" y="1252532"/>
                    </a:lnTo>
                    <a:cubicBezTo>
                      <a:pt x="3071492" y="1252532"/>
                      <a:pt x="3142612" y="1181412"/>
                      <a:pt x="3142612" y="1093782"/>
                    </a:cubicBezTo>
                    <a:lnTo>
                      <a:pt x="3142612" y="199719"/>
                    </a:lnTo>
                    <a:cubicBezTo>
                      <a:pt x="3142611" y="149860"/>
                      <a:pt x="3117211" y="104140"/>
                      <a:pt x="3079111" y="74930"/>
                    </a:cubicBezTo>
                    <a:close/>
                    <a:moveTo>
                      <a:pt x="12700" y="1050602"/>
                    </a:moveTo>
                    <a:lnTo>
                      <a:pt x="12700" y="158750"/>
                    </a:lnTo>
                    <a:cubicBezTo>
                      <a:pt x="12700" y="78740"/>
                      <a:pt x="78740" y="12700"/>
                      <a:pt x="158750" y="12700"/>
                    </a:cubicBezTo>
                    <a:lnTo>
                      <a:pt x="2944492" y="12700"/>
                    </a:lnTo>
                    <a:cubicBezTo>
                      <a:pt x="3024502" y="12700"/>
                      <a:pt x="3090542" y="78740"/>
                      <a:pt x="3090542" y="158750"/>
                    </a:cubicBezTo>
                    <a:lnTo>
                      <a:pt x="3090542" y="1050602"/>
                    </a:lnTo>
                    <a:cubicBezTo>
                      <a:pt x="3090542" y="1130612"/>
                      <a:pt x="3024502" y="1196652"/>
                      <a:pt x="2944492" y="1196652"/>
                    </a:cubicBezTo>
                    <a:lnTo>
                      <a:pt x="158750" y="1196652"/>
                    </a:lnTo>
                    <a:cubicBezTo>
                      <a:pt x="78740" y="1196652"/>
                      <a:pt x="12700" y="1131882"/>
                      <a:pt x="12700" y="1050602"/>
                    </a:cubicBezTo>
                    <a:close/>
                  </a:path>
                </a:pathLst>
              </a:custGeom>
              <a:solidFill>
                <a:srgbClr val="000000"/>
              </a:solidFill>
            </p:spPr>
          </p:sp>
        </p:grpSp>
        <p:sp>
          <p:nvSpPr>
            <p:cNvPr name="TextBox 14" id="14"/>
            <p:cNvSpPr txBox="true"/>
            <p:nvPr/>
          </p:nvSpPr>
          <p:spPr>
            <a:xfrm rot="0">
              <a:off x="975236" y="2325778"/>
              <a:ext cx="10886188" cy="15633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It uses Machine Learning to automatically handle routine, manual, and error-prone tasks like patching, tuning, and security. This self-driving capability makes the database more secure, cost-effective, and virtually eliminates downtime caused by human error.</a:t>
              </a:r>
            </a:p>
          </p:txBody>
        </p:sp>
        <p:sp>
          <p:nvSpPr>
            <p:cNvPr name="TextBox 15" id="15"/>
            <p:cNvSpPr txBox="true"/>
            <p:nvPr/>
          </p:nvSpPr>
          <p:spPr>
            <a:xfrm rot="0">
              <a:off x="975236" y="1058839"/>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Oracle Autonomous Database </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248700">
            <a:off x="12887478" y="3041687"/>
            <a:ext cx="6995082" cy="9594253"/>
          </a:xfrm>
          <a:custGeom>
            <a:avLst/>
            <a:gdLst/>
            <a:ahLst/>
            <a:cxnLst/>
            <a:rect r="r" b="b" t="t" l="l"/>
            <a:pathLst>
              <a:path h="9594253" w="6995082">
                <a:moveTo>
                  <a:pt x="0" y="0"/>
                </a:moveTo>
                <a:lnTo>
                  <a:pt x="6995082" y="0"/>
                </a:lnTo>
                <a:lnTo>
                  <a:pt x="6995082" y="9594253"/>
                </a:lnTo>
                <a:lnTo>
                  <a:pt x="0" y="9594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48700">
            <a:off x="-2233137" y="-4335812"/>
            <a:ext cx="5618954" cy="7706795"/>
          </a:xfrm>
          <a:custGeom>
            <a:avLst/>
            <a:gdLst/>
            <a:ahLst/>
            <a:cxnLst/>
            <a:rect r="r" b="b" t="t" l="l"/>
            <a:pathLst>
              <a:path h="7706795" w="5618954">
                <a:moveTo>
                  <a:pt x="0" y="0"/>
                </a:moveTo>
                <a:lnTo>
                  <a:pt x="5618954" y="0"/>
                </a:lnTo>
                <a:lnTo>
                  <a:pt x="5618954" y="7706795"/>
                </a:lnTo>
                <a:lnTo>
                  <a:pt x="0" y="77067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a:grpSpLocks noChangeAspect="true"/>
          </p:cNvGrpSpPr>
          <p:nvPr/>
        </p:nvGrpSpPr>
        <p:grpSpPr>
          <a:xfrm rot="0">
            <a:off x="10036744" y="1306542"/>
            <a:ext cx="6986016" cy="7673916"/>
            <a:chOff x="0" y="0"/>
            <a:chExt cx="5803900" cy="6375400"/>
          </a:xfrm>
        </p:grpSpPr>
        <p:sp>
          <p:nvSpPr>
            <p:cNvPr name="Freeform 5" id="5"/>
            <p:cNvSpPr/>
            <p:nvPr/>
          </p:nvSpPr>
          <p:spPr>
            <a:xfrm flipH="false" flipV="false" rot="0">
              <a:off x="12700" y="12700"/>
              <a:ext cx="5778500" cy="6350000"/>
            </a:xfrm>
            <a:custGeom>
              <a:avLst/>
              <a:gdLst/>
              <a:ahLst/>
              <a:cxnLst/>
              <a:rect r="r" b="b" t="t" l="l"/>
              <a:pathLst>
                <a:path h="6350000" w="5778500">
                  <a:moveTo>
                    <a:pt x="2889250" y="0"/>
                  </a:moveTo>
                  <a:cubicBezTo>
                    <a:pt x="1258570" y="0"/>
                    <a:pt x="0" y="1144270"/>
                    <a:pt x="0" y="2917190"/>
                  </a:cubicBezTo>
                  <a:cubicBezTo>
                    <a:pt x="0" y="4175760"/>
                    <a:pt x="0" y="6350000"/>
                    <a:pt x="0" y="6350000"/>
                  </a:cubicBezTo>
                  <a:lnTo>
                    <a:pt x="2889250" y="6350000"/>
                  </a:lnTo>
                  <a:lnTo>
                    <a:pt x="5778500" y="6350000"/>
                  </a:lnTo>
                  <a:cubicBezTo>
                    <a:pt x="5778500" y="6350000"/>
                    <a:pt x="5778500" y="4175760"/>
                    <a:pt x="5778500" y="2917190"/>
                  </a:cubicBezTo>
                  <a:cubicBezTo>
                    <a:pt x="5778500" y="1144270"/>
                    <a:pt x="4519930" y="0"/>
                    <a:pt x="2889250" y="0"/>
                  </a:cubicBezTo>
                  <a:close/>
                </a:path>
              </a:pathLst>
            </a:custGeom>
            <a:blipFill>
              <a:blip r:embed="rId4"/>
              <a:stretch>
                <a:fillRect l="-2109" t="0" r="-2109" b="0"/>
              </a:stretch>
            </a:blipFill>
          </p:spPr>
        </p:sp>
        <p:sp>
          <p:nvSpPr>
            <p:cNvPr name="Freeform 6" id="6"/>
            <p:cNvSpPr/>
            <p:nvPr/>
          </p:nvSpPr>
          <p:spPr>
            <a:xfrm flipH="false" flipV="false" rot="0">
              <a:off x="0" y="0"/>
              <a:ext cx="5803900" cy="6375400"/>
            </a:xfrm>
            <a:custGeom>
              <a:avLst/>
              <a:gdLst/>
              <a:ahLst/>
              <a:cxnLst/>
              <a:rect r="r" b="b" t="t" l="l"/>
              <a:pathLst>
                <a:path h="6375400" w="5803900">
                  <a:moveTo>
                    <a:pt x="5803900" y="6375400"/>
                  </a:moveTo>
                  <a:lnTo>
                    <a:pt x="0" y="6375400"/>
                  </a:lnTo>
                  <a:lnTo>
                    <a:pt x="0" y="2929890"/>
                  </a:lnTo>
                  <a:cubicBezTo>
                    <a:pt x="0" y="2495550"/>
                    <a:pt x="74930" y="2089150"/>
                    <a:pt x="223520" y="1720850"/>
                  </a:cubicBezTo>
                  <a:cubicBezTo>
                    <a:pt x="365760" y="1367790"/>
                    <a:pt x="571500" y="1056640"/>
                    <a:pt x="836930" y="797560"/>
                  </a:cubicBezTo>
                  <a:cubicBezTo>
                    <a:pt x="1361440" y="283210"/>
                    <a:pt x="2095500" y="0"/>
                    <a:pt x="2901950" y="0"/>
                  </a:cubicBezTo>
                  <a:cubicBezTo>
                    <a:pt x="3708400" y="0"/>
                    <a:pt x="4441190" y="283210"/>
                    <a:pt x="4966970" y="797560"/>
                  </a:cubicBezTo>
                  <a:cubicBezTo>
                    <a:pt x="5232400" y="1056640"/>
                    <a:pt x="5438140" y="1367790"/>
                    <a:pt x="5580380" y="1722120"/>
                  </a:cubicBezTo>
                  <a:cubicBezTo>
                    <a:pt x="5728970" y="2090420"/>
                    <a:pt x="5803900" y="2496820"/>
                    <a:pt x="5803900" y="2931160"/>
                  </a:cubicBezTo>
                  <a:lnTo>
                    <a:pt x="5803900" y="6375400"/>
                  </a:lnTo>
                  <a:close/>
                  <a:moveTo>
                    <a:pt x="25400" y="6350000"/>
                  </a:moveTo>
                  <a:lnTo>
                    <a:pt x="5778500" y="6350000"/>
                  </a:lnTo>
                  <a:lnTo>
                    <a:pt x="5778500" y="2929890"/>
                  </a:lnTo>
                  <a:cubicBezTo>
                    <a:pt x="5778500" y="2499360"/>
                    <a:pt x="5703570" y="2095500"/>
                    <a:pt x="5557520" y="1731010"/>
                  </a:cubicBezTo>
                  <a:cubicBezTo>
                    <a:pt x="5416550" y="1380490"/>
                    <a:pt x="5212080" y="1073150"/>
                    <a:pt x="4949190" y="815340"/>
                  </a:cubicBezTo>
                  <a:cubicBezTo>
                    <a:pt x="4428490" y="306070"/>
                    <a:pt x="3700780" y="25400"/>
                    <a:pt x="2901950" y="25400"/>
                  </a:cubicBezTo>
                  <a:cubicBezTo>
                    <a:pt x="2103120" y="25400"/>
                    <a:pt x="1375410" y="306070"/>
                    <a:pt x="854710" y="815340"/>
                  </a:cubicBezTo>
                  <a:cubicBezTo>
                    <a:pt x="591820" y="1071880"/>
                    <a:pt x="387350" y="1380490"/>
                    <a:pt x="246380" y="1731010"/>
                  </a:cubicBezTo>
                  <a:cubicBezTo>
                    <a:pt x="100330" y="2095500"/>
                    <a:pt x="25400" y="2499360"/>
                    <a:pt x="25400" y="2929890"/>
                  </a:cubicBezTo>
                  <a:lnTo>
                    <a:pt x="25400" y="6350000"/>
                  </a:lnTo>
                  <a:close/>
                </a:path>
              </a:pathLst>
            </a:custGeom>
            <a:solidFill>
              <a:srgbClr val="000000"/>
            </a:solidFill>
          </p:spPr>
        </p:sp>
      </p:grpSp>
      <p:grpSp>
        <p:nvGrpSpPr>
          <p:cNvPr name="Group 7" id="7"/>
          <p:cNvGrpSpPr/>
          <p:nvPr/>
        </p:nvGrpSpPr>
        <p:grpSpPr>
          <a:xfrm rot="0">
            <a:off x="1734829" y="1306542"/>
            <a:ext cx="7449602" cy="7540360"/>
            <a:chOff x="0" y="0"/>
            <a:chExt cx="9932803" cy="10053813"/>
          </a:xfrm>
        </p:grpSpPr>
        <p:sp>
          <p:nvSpPr>
            <p:cNvPr name="TextBox 8" id="8"/>
            <p:cNvSpPr txBox="true"/>
            <p:nvPr/>
          </p:nvSpPr>
          <p:spPr>
            <a:xfrm rot="0">
              <a:off x="0" y="200025"/>
              <a:ext cx="9932803" cy="1933575"/>
            </a:xfrm>
            <a:prstGeom prst="rect">
              <a:avLst/>
            </a:prstGeom>
          </p:spPr>
          <p:txBody>
            <a:bodyPr anchor="t" rtlCol="false" tIns="0" lIns="0" bIns="0" rIns="0">
              <a:spAutoFit/>
            </a:bodyPr>
            <a:lstStyle/>
            <a:p>
              <a:pPr algn="l">
                <a:lnSpc>
                  <a:spcPts val="10500"/>
                </a:lnSpc>
              </a:pPr>
              <a:r>
                <a:rPr lang="en-US" sz="10500">
                  <a:solidFill>
                    <a:srgbClr val="FFF6EC"/>
                  </a:solidFill>
                  <a:latin typeface="Bright Retro"/>
                  <a:ea typeface="Bright Retro"/>
                  <a:cs typeface="Bright Retro"/>
                  <a:sym typeface="Bright Retro"/>
                </a:rPr>
                <a:t>Vision</a:t>
              </a:r>
            </a:p>
          </p:txBody>
        </p:sp>
        <p:sp>
          <p:nvSpPr>
            <p:cNvPr name="TextBox 9" id="9"/>
            <p:cNvSpPr txBox="true"/>
            <p:nvPr/>
          </p:nvSpPr>
          <p:spPr>
            <a:xfrm rot="0">
              <a:off x="0" y="2450958"/>
              <a:ext cx="9932803" cy="7602855"/>
            </a:xfrm>
            <a:prstGeom prst="rect">
              <a:avLst/>
            </a:prstGeom>
          </p:spPr>
          <p:txBody>
            <a:bodyPr anchor="t" rtlCol="false" tIns="0" lIns="0" bIns="0" rIns="0">
              <a:spAutoFit/>
            </a:bodyPr>
            <a:lstStyle/>
            <a:p>
              <a:pPr algn="l" marL="777240" indent="-388620" lvl="1">
                <a:lnSpc>
                  <a:spcPts val="5040"/>
                </a:lnSpc>
                <a:buFont typeface="Arial"/>
                <a:buChar char="•"/>
              </a:pPr>
              <a:r>
                <a:rPr lang="en-US" sz="3600">
                  <a:solidFill>
                    <a:srgbClr val="FFF6EC"/>
                  </a:solidFill>
                  <a:latin typeface="Alkalami"/>
                  <a:ea typeface="Alkalami"/>
                  <a:cs typeface="Alkalami"/>
                  <a:sym typeface="Alkalami"/>
                </a:rPr>
                <a:t>To be the leading global provider of comprehensive cloud solutions.</a:t>
              </a:r>
            </a:p>
            <a:p>
              <a:pPr algn="l">
                <a:lnSpc>
                  <a:spcPts val="5040"/>
                </a:lnSpc>
              </a:pPr>
            </a:p>
            <a:p>
              <a:pPr algn="l" marL="777240" indent="-388620" lvl="1">
                <a:lnSpc>
                  <a:spcPts val="5040"/>
                </a:lnSpc>
                <a:buFont typeface="Arial"/>
                <a:buChar char="•"/>
              </a:pPr>
              <a:r>
                <a:rPr lang="en-US" sz="3600">
                  <a:solidFill>
                    <a:srgbClr val="FFF6EC"/>
                  </a:solidFill>
                  <a:latin typeface="Alkalami"/>
                  <a:ea typeface="Alkalami"/>
                  <a:cs typeface="Alkalami"/>
                  <a:sym typeface="Alkalami"/>
                </a:rPr>
                <a:t>To lead the technological transformation and empower businesses with data and innovation.</a:t>
              </a:r>
            </a:p>
            <a:p>
              <a:pPr algn="l">
                <a:lnSpc>
                  <a:spcPts val="5040"/>
                </a:lnSpc>
              </a:pPr>
            </a:p>
          </p:txBody>
        </p:sp>
      </p:grpSp>
      <p:sp>
        <p:nvSpPr>
          <p:cNvPr name="TextBox 10" id="10"/>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9912" y="4543425"/>
            <a:ext cx="6685487" cy="1400175"/>
          </a:xfrm>
          <a:prstGeom prst="rect">
            <a:avLst/>
          </a:prstGeom>
        </p:spPr>
        <p:txBody>
          <a:bodyPr anchor="t" rtlCol="false" tIns="0" lIns="0" bIns="0" rIns="0">
            <a:spAutoFit/>
          </a:bodyPr>
          <a:lstStyle/>
          <a:p>
            <a:pPr algn="ctr">
              <a:lnSpc>
                <a:spcPts val="10500"/>
              </a:lnSpc>
            </a:pPr>
            <a:r>
              <a:rPr lang="en-US" sz="10500">
                <a:solidFill>
                  <a:srgbClr val="FFF6EC"/>
                </a:solidFill>
                <a:latin typeface="Bright Retro"/>
                <a:ea typeface="Bright Retro"/>
                <a:cs typeface="Bright Retro"/>
                <a:sym typeface="Bright Retro"/>
              </a:rPr>
              <a:t>Vision</a:t>
            </a:r>
          </a:p>
        </p:txBody>
      </p:sp>
      <p:grpSp>
        <p:nvGrpSpPr>
          <p:cNvPr name="Group 4" id="4"/>
          <p:cNvGrpSpPr/>
          <p:nvPr/>
        </p:nvGrpSpPr>
        <p:grpSpPr>
          <a:xfrm rot="0">
            <a:off x="7714187" y="934407"/>
            <a:ext cx="9545113" cy="3747189"/>
            <a:chOff x="0" y="0"/>
            <a:chExt cx="12726818" cy="4996251"/>
          </a:xfrm>
        </p:grpSpPr>
        <p:grpSp>
          <p:nvGrpSpPr>
            <p:cNvPr name="Group 5" id="5"/>
            <p:cNvGrpSpPr/>
            <p:nvPr/>
          </p:nvGrpSpPr>
          <p:grpSpPr>
            <a:xfrm rot="0">
              <a:off x="0" y="0"/>
              <a:ext cx="12726818" cy="4996251"/>
              <a:chOff x="0" y="0"/>
              <a:chExt cx="3142611" cy="1233716"/>
            </a:xfrm>
          </p:grpSpPr>
          <p:sp>
            <p:nvSpPr>
              <p:cNvPr name="Freeform 6" id="6"/>
              <p:cNvSpPr/>
              <p:nvPr/>
            </p:nvSpPr>
            <p:spPr>
              <a:xfrm flipH="false" flipV="false" rot="0">
                <a:off x="12700" y="12700"/>
                <a:ext cx="3077842" cy="1165136"/>
              </a:xfrm>
              <a:custGeom>
                <a:avLst/>
                <a:gdLst/>
                <a:ahLst/>
                <a:cxnLst/>
                <a:rect r="r" b="b" t="t" l="l"/>
                <a:pathLst>
                  <a:path h="1165136" w="3077842">
                    <a:moveTo>
                      <a:pt x="146050" y="1165136"/>
                    </a:moveTo>
                    <a:lnTo>
                      <a:pt x="2931792" y="1165136"/>
                    </a:lnTo>
                    <a:cubicBezTo>
                      <a:pt x="3011802" y="1165136"/>
                      <a:pt x="3077842" y="1099096"/>
                      <a:pt x="3077842" y="1019086"/>
                    </a:cubicBezTo>
                    <a:lnTo>
                      <a:pt x="3077842" y="146050"/>
                    </a:lnTo>
                    <a:cubicBezTo>
                      <a:pt x="3077842" y="66040"/>
                      <a:pt x="3011802" y="0"/>
                      <a:pt x="2931792" y="0"/>
                    </a:cubicBezTo>
                    <a:lnTo>
                      <a:pt x="146050" y="0"/>
                    </a:lnTo>
                    <a:cubicBezTo>
                      <a:pt x="66040" y="0"/>
                      <a:pt x="0" y="66040"/>
                      <a:pt x="0" y="146050"/>
                    </a:cubicBezTo>
                    <a:lnTo>
                      <a:pt x="0" y="1019086"/>
                    </a:lnTo>
                    <a:cubicBezTo>
                      <a:pt x="0" y="1100366"/>
                      <a:pt x="66040" y="1165136"/>
                      <a:pt x="146050" y="1165136"/>
                    </a:cubicBezTo>
                    <a:close/>
                  </a:path>
                </a:pathLst>
              </a:custGeom>
              <a:solidFill>
                <a:srgbClr val="FFF6EC"/>
              </a:solidFill>
            </p:spPr>
          </p:sp>
          <p:sp>
            <p:nvSpPr>
              <p:cNvPr name="Freeform 7" id="7"/>
              <p:cNvSpPr/>
              <p:nvPr/>
            </p:nvSpPr>
            <p:spPr>
              <a:xfrm flipH="false" flipV="false" rot="0">
                <a:off x="0" y="0"/>
                <a:ext cx="3142612" cy="1233716"/>
              </a:xfrm>
              <a:custGeom>
                <a:avLst/>
                <a:gdLst/>
                <a:ahLst/>
                <a:cxnLst/>
                <a:rect r="r" b="b" t="t" l="l"/>
                <a:pathLst>
                  <a:path h="1233716" w="3142612">
                    <a:moveTo>
                      <a:pt x="3079111" y="74930"/>
                    </a:moveTo>
                    <a:cubicBezTo>
                      <a:pt x="3051172" y="30480"/>
                      <a:pt x="3001642" y="0"/>
                      <a:pt x="2944492" y="0"/>
                    </a:cubicBezTo>
                    <a:lnTo>
                      <a:pt x="158750" y="0"/>
                    </a:lnTo>
                    <a:cubicBezTo>
                      <a:pt x="71120" y="0"/>
                      <a:pt x="0" y="71120"/>
                      <a:pt x="0" y="158750"/>
                    </a:cubicBezTo>
                    <a:lnTo>
                      <a:pt x="0" y="1031786"/>
                    </a:lnTo>
                    <a:cubicBezTo>
                      <a:pt x="0" y="1083856"/>
                      <a:pt x="25400" y="1129576"/>
                      <a:pt x="63500" y="1158786"/>
                    </a:cubicBezTo>
                    <a:cubicBezTo>
                      <a:pt x="91440" y="1203236"/>
                      <a:pt x="140970" y="1233716"/>
                      <a:pt x="204917" y="1233716"/>
                    </a:cubicBezTo>
                    <a:lnTo>
                      <a:pt x="2983861" y="1233716"/>
                    </a:lnTo>
                    <a:cubicBezTo>
                      <a:pt x="3071492" y="1233716"/>
                      <a:pt x="3142612" y="1162596"/>
                      <a:pt x="3142612" y="1074966"/>
                    </a:cubicBezTo>
                    <a:lnTo>
                      <a:pt x="3142612" y="199621"/>
                    </a:lnTo>
                    <a:cubicBezTo>
                      <a:pt x="3142611" y="149860"/>
                      <a:pt x="3117211" y="104140"/>
                      <a:pt x="3079111" y="74930"/>
                    </a:cubicBezTo>
                    <a:close/>
                    <a:moveTo>
                      <a:pt x="12700" y="1031786"/>
                    </a:moveTo>
                    <a:lnTo>
                      <a:pt x="12700" y="158750"/>
                    </a:lnTo>
                    <a:cubicBezTo>
                      <a:pt x="12700" y="78740"/>
                      <a:pt x="78740" y="12700"/>
                      <a:pt x="158750" y="12700"/>
                    </a:cubicBezTo>
                    <a:lnTo>
                      <a:pt x="2944492" y="12700"/>
                    </a:lnTo>
                    <a:cubicBezTo>
                      <a:pt x="3024502" y="12700"/>
                      <a:pt x="3090542" y="78740"/>
                      <a:pt x="3090542" y="158750"/>
                    </a:cubicBezTo>
                    <a:lnTo>
                      <a:pt x="3090542" y="1031786"/>
                    </a:lnTo>
                    <a:cubicBezTo>
                      <a:pt x="3090542" y="1111796"/>
                      <a:pt x="3024502" y="1177836"/>
                      <a:pt x="2944492" y="1177836"/>
                    </a:cubicBezTo>
                    <a:lnTo>
                      <a:pt x="158750" y="1177836"/>
                    </a:lnTo>
                    <a:cubicBezTo>
                      <a:pt x="78740" y="1177836"/>
                      <a:pt x="12700" y="1113066"/>
                      <a:pt x="12700" y="1031786"/>
                    </a:cubicBezTo>
                    <a:close/>
                  </a:path>
                </a:pathLst>
              </a:custGeom>
              <a:solidFill>
                <a:srgbClr val="000000"/>
              </a:solidFill>
            </p:spPr>
          </p:sp>
        </p:grpSp>
        <p:sp>
          <p:nvSpPr>
            <p:cNvPr name="TextBox 8" id="8"/>
            <p:cNvSpPr txBox="true"/>
            <p:nvPr/>
          </p:nvSpPr>
          <p:spPr>
            <a:xfrm rot="0">
              <a:off x="975236" y="3014837"/>
              <a:ext cx="10886188" cy="7759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This expresses </a:t>
              </a:r>
              <a:r>
                <a:rPr lang="en-US" sz="1800">
                  <a:solidFill>
                    <a:srgbClr val="E30408"/>
                  </a:solidFill>
                  <a:latin typeface="Alkalami"/>
                  <a:ea typeface="Alkalami"/>
                  <a:cs typeface="Alkalami"/>
                  <a:sym typeface="Alkalami"/>
                </a:rPr>
                <a:t>Oracle's goal to be the number one company globally in providing integrated Cloudsolutions.</a:t>
              </a:r>
            </a:p>
          </p:txBody>
        </p:sp>
        <p:sp>
          <p:nvSpPr>
            <p:cNvPr name="TextBox 9" id="9"/>
            <p:cNvSpPr txBox="true"/>
            <p:nvPr/>
          </p:nvSpPr>
          <p:spPr>
            <a:xfrm rot="0">
              <a:off x="975236" y="1036698"/>
              <a:ext cx="10886188" cy="13779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T</a:t>
              </a:r>
              <a:r>
                <a:rPr lang="en-US" sz="3000">
                  <a:solidFill>
                    <a:srgbClr val="E30408"/>
                  </a:solidFill>
                  <a:latin typeface="Alkalami"/>
                  <a:ea typeface="Alkalami"/>
                  <a:cs typeface="Alkalami"/>
                  <a:sym typeface="Alkalami"/>
                </a:rPr>
                <a:t>o be the leading global provider of comprehensive cloud solutions</a:t>
              </a:r>
            </a:p>
          </p:txBody>
        </p:sp>
      </p:grpSp>
      <p:grpSp>
        <p:nvGrpSpPr>
          <p:cNvPr name="Group 10" id="10"/>
          <p:cNvGrpSpPr/>
          <p:nvPr/>
        </p:nvGrpSpPr>
        <p:grpSpPr>
          <a:xfrm rot="0">
            <a:off x="7714187" y="5334899"/>
            <a:ext cx="9545113" cy="3747189"/>
            <a:chOff x="0" y="0"/>
            <a:chExt cx="12726818" cy="4996251"/>
          </a:xfrm>
        </p:grpSpPr>
        <p:grpSp>
          <p:nvGrpSpPr>
            <p:cNvPr name="Group 11" id="11"/>
            <p:cNvGrpSpPr/>
            <p:nvPr/>
          </p:nvGrpSpPr>
          <p:grpSpPr>
            <a:xfrm rot="0">
              <a:off x="0" y="0"/>
              <a:ext cx="12726818" cy="4996251"/>
              <a:chOff x="0" y="0"/>
              <a:chExt cx="3142611" cy="1233716"/>
            </a:xfrm>
          </p:grpSpPr>
          <p:sp>
            <p:nvSpPr>
              <p:cNvPr name="Freeform 12" id="12"/>
              <p:cNvSpPr/>
              <p:nvPr/>
            </p:nvSpPr>
            <p:spPr>
              <a:xfrm flipH="false" flipV="false" rot="0">
                <a:off x="12700" y="12700"/>
                <a:ext cx="3077842" cy="1165136"/>
              </a:xfrm>
              <a:custGeom>
                <a:avLst/>
                <a:gdLst/>
                <a:ahLst/>
                <a:cxnLst/>
                <a:rect r="r" b="b" t="t" l="l"/>
                <a:pathLst>
                  <a:path h="1165136" w="3077842">
                    <a:moveTo>
                      <a:pt x="146050" y="1165136"/>
                    </a:moveTo>
                    <a:lnTo>
                      <a:pt x="2931792" y="1165136"/>
                    </a:lnTo>
                    <a:cubicBezTo>
                      <a:pt x="3011802" y="1165136"/>
                      <a:pt x="3077842" y="1099096"/>
                      <a:pt x="3077842" y="1019086"/>
                    </a:cubicBezTo>
                    <a:lnTo>
                      <a:pt x="3077842" y="146050"/>
                    </a:lnTo>
                    <a:cubicBezTo>
                      <a:pt x="3077842" y="66040"/>
                      <a:pt x="3011802" y="0"/>
                      <a:pt x="2931792" y="0"/>
                    </a:cubicBezTo>
                    <a:lnTo>
                      <a:pt x="146050" y="0"/>
                    </a:lnTo>
                    <a:cubicBezTo>
                      <a:pt x="66040" y="0"/>
                      <a:pt x="0" y="66040"/>
                      <a:pt x="0" y="146050"/>
                    </a:cubicBezTo>
                    <a:lnTo>
                      <a:pt x="0" y="1019086"/>
                    </a:lnTo>
                    <a:cubicBezTo>
                      <a:pt x="0" y="1100366"/>
                      <a:pt x="66040" y="1165136"/>
                      <a:pt x="146050" y="1165136"/>
                    </a:cubicBezTo>
                    <a:close/>
                  </a:path>
                </a:pathLst>
              </a:custGeom>
              <a:solidFill>
                <a:srgbClr val="FFF6EC"/>
              </a:solidFill>
            </p:spPr>
          </p:sp>
          <p:sp>
            <p:nvSpPr>
              <p:cNvPr name="Freeform 13" id="13"/>
              <p:cNvSpPr/>
              <p:nvPr/>
            </p:nvSpPr>
            <p:spPr>
              <a:xfrm flipH="false" flipV="false" rot="0">
                <a:off x="0" y="0"/>
                <a:ext cx="3142612" cy="1233716"/>
              </a:xfrm>
              <a:custGeom>
                <a:avLst/>
                <a:gdLst/>
                <a:ahLst/>
                <a:cxnLst/>
                <a:rect r="r" b="b" t="t" l="l"/>
                <a:pathLst>
                  <a:path h="1233716" w="3142612">
                    <a:moveTo>
                      <a:pt x="3079111" y="74930"/>
                    </a:moveTo>
                    <a:cubicBezTo>
                      <a:pt x="3051172" y="30480"/>
                      <a:pt x="3001642" y="0"/>
                      <a:pt x="2944492" y="0"/>
                    </a:cubicBezTo>
                    <a:lnTo>
                      <a:pt x="158750" y="0"/>
                    </a:lnTo>
                    <a:cubicBezTo>
                      <a:pt x="71120" y="0"/>
                      <a:pt x="0" y="71120"/>
                      <a:pt x="0" y="158750"/>
                    </a:cubicBezTo>
                    <a:lnTo>
                      <a:pt x="0" y="1031786"/>
                    </a:lnTo>
                    <a:cubicBezTo>
                      <a:pt x="0" y="1083856"/>
                      <a:pt x="25400" y="1129576"/>
                      <a:pt x="63500" y="1158786"/>
                    </a:cubicBezTo>
                    <a:cubicBezTo>
                      <a:pt x="91440" y="1203236"/>
                      <a:pt x="140970" y="1233716"/>
                      <a:pt x="204917" y="1233716"/>
                    </a:cubicBezTo>
                    <a:lnTo>
                      <a:pt x="2983861" y="1233716"/>
                    </a:lnTo>
                    <a:cubicBezTo>
                      <a:pt x="3071492" y="1233716"/>
                      <a:pt x="3142612" y="1162596"/>
                      <a:pt x="3142612" y="1074966"/>
                    </a:cubicBezTo>
                    <a:lnTo>
                      <a:pt x="3142612" y="199621"/>
                    </a:lnTo>
                    <a:cubicBezTo>
                      <a:pt x="3142611" y="149860"/>
                      <a:pt x="3117211" y="104140"/>
                      <a:pt x="3079111" y="74930"/>
                    </a:cubicBezTo>
                    <a:close/>
                    <a:moveTo>
                      <a:pt x="12700" y="1031786"/>
                    </a:moveTo>
                    <a:lnTo>
                      <a:pt x="12700" y="158750"/>
                    </a:lnTo>
                    <a:cubicBezTo>
                      <a:pt x="12700" y="78740"/>
                      <a:pt x="78740" y="12700"/>
                      <a:pt x="158750" y="12700"/>
                    </a:cubicBezTo>
                    <a:lnTo>
                      <a:pt x="2944492" y="12700"/>
                    </a:lnTo>
                    <a:cubicBezTo>
                      <a:pt x="3024502" y="12700"/>
                      <a:pt x="3090542" y="78740"/>
                      <a:pt x="3090542" y="158750"/>
                    </a:cubicBezTo>
                    <a:lnTo>
                      <a:pt x="3090542" y="1031786"/>
                    </a:lnTo>
                    <a:cubicBezTo>
                      <a:pt x="3090542" y="1111796"/>
                      <a:pt x="3024502" y="1177836"/>
                      <a:pt x="2944492" y="1177836"/>
                    </a:cubicBezTo>
                    <a:lnTo>
                      <a:pt x="158750" y="1177836"/>
                    </a:lnTo>
                    <a:cubicBezTo>
                      <a:pt x="78740" y="1177836"/>
                      <a:pt x="12700" y="1113066"/>
                      <a:pt x="12700" y="1031786"/>
                    </a:cubicBezTo>
                    <a:close/>
                  </a:path>
                </a:pathLst>
              </a:custGeom>
              <a:solidFill>
                <a:srgbClr val="000000"/>
              </a:solidFill>
            </p:spPr>
          </p:sp>
        </p:grpSp>
        <p:sp>
          <p:nvSpPr>
            <p:cNvPr name="TextBox 14" id="14"/>
            <p:cNvSpPr txBox="true"/>
            <p:nvPr/>
          </p:nvSpPr>
          <p:spPr>
            <a:xfrm rot="0">
              <a:off x="975236" y="3036978"/>
              <a:ext cx="10886188" cy="7759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Thi</a:t>
              </a:r>
              <a:r>
                <a:rPr lang="en-US" sz="1800">
                  <a:solidFill>
                    <a:srgbClr val="E30408"/>
                  </a:solidFill>
                  <a:latin typeface="Alkalami"/>
                  <a:ea typeface="Alkalami"/>
                  <a:cs typeface="Alkalami"/>
                  <a:sym typeface="Alkalami"/>
                </a:rPr>
                <a:t>s clarifies Oracle's ambition to lead the technological transformation and help businesses utilizedata and innovation to achieve success</a:t>
              </a:r>
            </a:p>
          </p:txBody>
        </p:sp>
        <p:sp>
          <p:nvSpPr>
            <p:cNvPr name="TextBox 15" id="15"/>
            <p:cNvSpPr txBox="true"/>
            <p:nvPr/>
          </p:nvSpPr>
          <p:spPr>
            <a:xfrm rot="0">
              <a:off x="975236" y="1058839"/>
              <a:ext cx="10886188" cy="13779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To le</a:t>
              </a:r>
              <a:r>
                <a:rPr lang="en-US" sz="3000">
                  <a:solidFill>
                    <a:srgbClr val="E30408"/>
                  </a:solidFill>
                  <a:latin typeface="Alkalami"/>
                  <a:ea typeface="Alkalami"/>
                  <a:cs typeface="Alkalami"/>
                  <a:sym typeface="Alkalami"/>
                </a:rPr>
                <a:t>ad the technological transformation and empower businesses with data and innovation</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6EC"/>
        </a:solidFill>
      </p:bgPr>
    </p:bg>
    <p:spTree>
      <p:nvGrpSpPr>
        <p:cNvPr id="1" name=""/>
        <p:cNvGrpSpPr/>
        <p:nvPr/>
      </p:nvGrpSpPr>
      <p:grpSpPr>
        <a:xfrm>
          <a:off x="0" y="0"/>
          <a:ext cx="0" cy="0"/>
          <a:chOff x="0" y="0"/>
          <a:chExt cx="0" cy="0"/>
        </a:xfrm>
      </p:grpSpPr>
      <p:sp>
        <p:nvSpPr>
          <p:cNvPr name="Freeform 2" id="2"/>
          <p:cNvSpPr/>
          <p:nvPr/>
        </p:nvSpPr>
        <p:spPr>
          <a:xfrm flipH="false" flipV="false" rot="2765800">
            <a:off x="2912702" y="5075185"/>
            <a:ext cx="5463727" cy="6145296"/>
          </a:xfrm>
          <a:custGeom>
            <a:avLst/>
            <a:gdLst/>
            <a:ahLst/>
            <a:cxnLst/>
            <a:rect r="r" b="b" t="t" l="l"/>
            <a:pathLst>
              <a:path h="6145296" w="5463727">
                <a:moveTo>
                  <a:pt x="0" y="0"/>
                </a:moveTo>
                <a:lnTo>
                  <a:pt x="5463727" y="0"/>
                </a:lnTo>
                <a:lnTo>
                  <a:pt x="5463727" y="6145296"/>
                </a:lnTo>
                <a:lnTo>
                  <a:pt x="0" y="61452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1179">
            <a:off x="13878911" y="-2607652"/>
            <a:ext cx="5936953" cy="6677554"/>
          </a:xfrm>
          <a:custGeom>
            <a:avLst/>
            <a:gdLst/>
            <a:ahLst/>
            <a:cxnLst/>
            <a:rect r="r" b="b" t="t" l="l"/>
            <a:pathLst>
              <a:path h="6677554" w="5936953">
                <a:moveTo>
                  <a:pt x="0" y="0"/>
                </a:moveTo>
                <a:lnTo>
                  <a:pt x="5936952" y="0"/>
                </a:lnTo>
                <a:lnTo>
                  <a:pt x="5936952" y="6677554"/>
                </a:lnTo>
                <a:lnTo>
                  <a:pt x="0" y="66775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1255707" y="944655"/>
            <a:ext cx="5878384" cy="8397691"/>
            <a:chOff x="0" y="0"/>
            <a:chExt cx="4445000" cy="6350000"/>
          </a:xfrm>
        </p:grpSpPr>
        <p:sp>
          <p:nvSpPr>
            <p:cNvPr name="Freeform 5" id="5"/>
            <p:cNvSpPr/>
            <p:nvPr/>
          </p:nvSpPr>
          <p:spPr>
            <a:xfrm flipH="false" flipV="false" rot="0">
              <a:off x="0" y="0"/>
              <a:ext cx="4445000" cy="6350000"/>
            </a:xfrm>
            <a:custGeom>
              <a:avLst/>
              <a:gdLst/>
              <a:ahLst/>
              <a:cxnLst/>
              <a:rect r="r" b="b" t="t" l="l"/>
              <a:pathLst>
                <a:path h="6350000" w="4445000">
                  <a:moveTo>
                    <a:pt x="2222500" y="6350000"/>
                  </a:moveTo>
                  <a:lnTo>
                    <a:pt x="2222500" y="6350000"/>
                  </a:lnTo>
                  <a:cubicBezTo>
                    <a:pt x="995680" y="6350000"/>
                    <a:pt x="0" y="5354320"/>
                    <a:pt x="0" y="4127500"/>
                  </a:cubicBezTo>
                  <a:lnTo>
                    <a:pt x="0" y="2222500"/>
                  </a:lnTo>
                  <a:cubicBezTo>
                    <a:pt x="0" y="995680"/>
                    <a:pt x="995680" y="0"/>
                    <a:pt x="2222500" y="0"/>
                  </a:cubicBezTo>
                  <a:lnTo>
                    <a:pt x="2222500" y="0"/>
                  </a:lnTo>
                  <a:cubicBezTo>
                    <a:pt x="3449320" y="0"/>
                    <a:pt x="4445000" y="995680"/>
                    <a:pt x="4445000" y="2222500"/>
                  </a:cubicBezTo>
                  <a:lnTo>
                    <a:pt x="4445000" y="4127500"/>
                  </a:lnTo>
                  <a:cubicBezTo>
                    <a:pt x="4445000" y="5354320"/>
                    <a:pt x="3449320" y="6350000"/>
                    <a:pt x="2222500" y="6350000"/>
                  </a:cubicBezTo>
                  <a:close/>
                </a:path>
              </a:pathLst>
            </a:custGeom>
            <a:blipFill>
              <a:blip r:embed="rId6"/>
              <a:stretch>
                <a:fillRect l="-57142" t="0" r="-57142" b="0"/>
              </a:stretch>
            </a:blipFill>
          </p:spPr>
        </p:sp>
        <p:sp>
          <p:nvSpPr>
            <p:cNvPr name="Freeform 6" id="6"/>
            <p:cNvSpPr/>
            <p:nvPr/>
          </p:nvSpPr>
          <p:spPr>
            <a:xfrm flipH="false" flipV="false" rot="0">
              <a:off x="0" y="0"/>
              <a:ext cx="4445000" cy="6350000"/>
            </a:xfrm>
            <a:custGeom>
              <a:avLst/>
              <a:gdLst/>
              <a:ahLst/>
              <a:cxnLst/>
              <a:rect r="r" b="b" t="t" l="l"/>
              <a:pathLst>
                <a:path h="6350000" w="4445000">
                  <a:moveTo>
                    <a:pt x="2222500" y="19050"/>
                  </a:moveTo>
                  <a:cubicBezTo>
                    <a:pt x="2810510" y="19050"/>
                    <a:pt x="3364230" y="248920"/>
                    <a:pt x="3780790" y="664210"/>
                  </a:cubicBezTo>
                  <a:cubicBezTo>
                    <a:pt x="4197350" y="1079500"/>
                    <a:pt x="4425950" y="1633220"/>
                    <a:pt x="4425950" y="2222500"/>
                  </a:cubicBezTo>
                  <a:lnTo>
                    <a:pt x="4425950" y="4127500"/>
                  </a:lnTo>
                  <a:cubicBezTo>
                    <a:pt x="4425950" y="4715510"/>
                    <a:pt x="4196080" y="5269230"/>
                    <a:pt x="3780790" y="5685790"/>
                  </a:cubicBezTo>
                  <a:cubicBezTo>
                    <a:pt x="3365500" y="6102350"/>
                    <a:pt x="2811780" y="6330950"/>
                    <a:pt x="2222500" y="6330950"/>
                  </a:cubicBezTo>
                  <a:cubicBezTo>
                    <a:pt x="1633220" y="6330950"/>
                    <a:pt x="1080770" y="6101080"/>
                    <a:pt x="664210" y="5685790"/>
                  </a:cubicBezTo>
                  <a:cubicBezTo>
                    <a:pt x="247650" y="5270500"/>
                    <a:pt x="19050" y="4715510"/>
                    <a:pt x="19050" y="4127500"/>
                  </a:cubicBezTo>
                  <a:lnTo>
                    <a:pt x="19050" y="2222500"/>
                  </a:lnTo>
                  <a:cubicBezTo>
                    <a:pt x="19050" y="1634490"/>
                    <a:pt x="248920" y="1080770"/>
                    <a:pt x="664210" y="664210"/>
                  </a:cubicBezTo>
                  <a:cubicBezTo>
                    <a:pt x="1079500" y="247650"/>
                    <a:pt x="1634490" y="19050"/>
                    <a:pt x="2222500" y="19050"/>
                  </a:cubicBezTo>
                  <a:moveTo>
                    <a:pt x="2222500" y="0"/>
                  </a:moveTo>
                  <a:cubicBezTo>
                    <a:pt x="995680" y="0"/>
                    <a:pt x="0" y="995680"/>
                    <a:pt x="0" y="2222500"/>
                  </a:cubicBezTo>
                  <a:lnTo>
                    <a:pt x="0" y="4127500"/>
                  </a:lnTo>
                  <a:cubicBezTo>
                    <a:pt x="0" y="5354320"/>
                    <a:pt x="995680" y="6350000"/>
                    <a:pt x="2222500" y="6350000"/>
                  </a:cubicBezTo>
                  <a:cubicBezTo>
                    <a:pt x="3449320" y="6350000"/>
                    <a:pt x="4445000" y="5354320"/>
                    <a:pt x="4445000" y="4127500"/>
                  </a:cubicBezTo>
                  <a:lnTo>
                    <a:pt x="4445000" y="2222500"/>
                  </a:lnTo>
                  <a:cubicBezTo>
                    <a:pt x="4445000" y="995680"/>
                    <a:pt x="3449320" y="0"/>
                    <a:pt x="2222500" y="0"/>
                  </a:cubicBezTo>
                  <a:lnTo>
                    <a:pt x="2222500" y="0"/>
                  </a:lnTo>
                  <a:close/>
                </a:path>
              </a:pathLst>
            </a:custGeom>
            <a:solidFill>
              <a:srgbClr val="000000"/>
            </a:solidFill>
          </p:spPr>
        </p:sp>
      </p:grpSp>
      <p:sp>
        <p:nvSpPr>
          <p:cNvPr name="TextBox 7" id="7"/>
          <p:cNvSpPr txBox="true"/>
          <p:nvPr/>
        </p:nvSpPr>
        <p:spPr>
          <a:xfrm rot="0">
            <a:off x="12828370" y="8934528"/>
            <a:ext cx="4430930" cy="339724"/>
          </a:xfrm>
          <a:prstGeom prst="rect">
            <a:avLst/>
          </a:prstGeom>
        </p:spPr>
        <p:txBody>
          <a:bodyPr anchor="t" rtlCol="false" tIns="0" lIns="0" bIns="0" rIns="0">
            <a:spAutoFit/>
          </a:bodyPr>
          <a:lstStyle/>
          <a:p>
            <a:pPr algn="r">
              <a:lnSpc>
                <a:spcPts val="2800"/>
              </a:lnSpc>
            </a:pPr>
            <a:r>
              <a:rPr lang="en-US" sz="2000">
                <a:solidFill>
                  <a:srgbClr val="E30408"/>
                </a:solidFill>
                <a:latin typeface="Alkalami"/>
                <a:ea typeface="Alkalami"/>
                <a:cs typeface="Alkalami"/>
                <a:sym typeface="Alkalami"/>
              </a:rPr>
              <a:t>Back to Agenda Page</a:t>
            </a:r>
          </a:p>
        </p:txBody>
      </p:sp>
      <p:grpSp>
        <p:nvGrpSpPr>
          <p:cNvPr name="Group 8" id="8"/>
          <p:cNvGrpSpPr/>
          <p:nvPr/>
        </p:nvGrpSpPr>
        <p:grpSpPr>
          <a:xfrm rot="0">
            <a:off x="9278254" y="2193226"/>
            <a:ext cx="7981046" cy="5721331"/>
            <a:chOff x="0" y="0"/>
            <a:chExt cx="10641394" cy="7628441"/>
          </a:xfrm>
        </p:grpSpPr>
        <p:sp>
          <p:nvSpPr>
            <p:cNvPr name="TextBox 9" id="9"/>
            <p:cNvSpPr txBox="true"/>
            <p:nvPr/>
          </p:nvSpPr>
          <p:spPr>
            <a:xfrm rot="0">
              <a:off x="0" y="200025"/>
              <a:ext cx="10641394" cy="1933575"/>
            </a:xfrm>
            <a:prstGeom prst="rect">
              <a:avLst/>
            </a:prstGeom>
          </p:spPr>
          <p:txBody>
            <a:bodyPr anchor="t" rtlCol="false" tIns="0" lIns="0" bIns="0" rIns="0">
              <a:spAutoFit/>
            </a:bodyPr>
            <a:lstStyle/>
            <a:p>
              <a:pPr algn="l">
                <a:lnSpc>
                  <a:spcPts val="10500"/>
                </a:lnSpc>
              </a:pPr>
              <a:r>
                <a:rPr lang="en-US" sz="10500">
                  <a:solidFill>
                    <a:srgbClr val="E30408"/>
                  </a:solidFill>
                  <a:latin typeface="Bright Retro"/>
                  <a:ea typeface="Bright Retro"/>
                  <a:cs typeface="Bright Retro"/>
                  <a:sym typeface="Bright Retro"/>
                </a:rPr>
                <a:t>Mission </a:t>
              </a:r>
            </a:p>
          </p:txBody>
        </p:sp>
        <p:sp>
          <p:nvSpPr>
            <p:cNvPr name="TextBox 10" id="10"/>
            <p:cNvSpPr txBox="true"/>
            <p:nvPr/>
          </p:nvSpPr>
          <p:spPr>
            <a:xfrm rot="0">
              <a:off x="0" y="2450908"/>
              <a:ext cx="10641394" cy="2497455"/>
            </a:xfrm>
            <a:prstGeom prst="rect">
              <a:avLst/>
            </a:prstGeom>
          </p:spPr>
          <p:txBody>
            <a:bodyPr anchor="t" rtlCol="false" tIns="0" lIns="0" bIns="0" rIns="0">
              <a:spAutoFit/>
            </a:bodyPr>
            <a:lstStyle/>
            <a:p>
              <a:pPr algn="l">
                <a:lnSpc>
                  <a:spcPts val="5040"/>
                </a:lnSpc>
              </a:pPr>
              <a:r>
                <a:rPr lang="en-US" sz="3600">
                  <a:solidFill>
                    <a:srgbClr val="E30408"/>
                  </a:solidFill>
                  <a:latin typeface="Alkalami"/>
                  <a:ea typeface="Alkalami"/>
                  <a:cs typeface="Alkalami"/>
                  <a:sym typeface="Alkalami"/>
                </a:rPr>
                <a:t>"To help people see data in new ways, discover insights, and unlock endless possibilities."</a:t>
              </a:r>
            </a:p>
          </p:txBody>
        </p:sp>
        <p:sp>
          <p:nvSpPr>
            <p:cNvPr name="TextBox 11" id="11"/>
            <p:cNvSpPr txBox="true"/>
            <p:nvPr/>
          </p:nvSpPr>
          <p:spPr>
            <a:xfrm rot="0">
              <a:off x="0" y="6078406"/>
              <a:ext cx="10641394" cy="1550035"/>
            </a:xfrm>
            <a:prstGeom prst="rect">
              <a:avLst/>
            </a:prstGeom>
          </p:spPr>
          <p:txBody>
            <a:bodyPr anchor="t" rtlCol="false" tIns="0" lIns="0" bIns="0" rIns="0">
              <a:spAutoFit/>
            </a:bodyPr>
            <a:lstStyle/>
            <a:p>
              <a:pPr algn="l" marL="518160" indent="-259080" lvl="1">
                <a:lnSpc>
                  <a:spcPts val="3120"/>
                </a:lnSpc>
                <a:buFont typeface="Arial"/>
                <a:buChar char="•"/>
              </a:pPr>
              <a:r>
                <a:rPr lang="en-US" sz="2400">
                  <a:solidFill>
                    <a:srgbClr val="E30408"/>
                  </a:solidFill>
                  <a:latin typeface="Alkalami"/>
                  <a:ea typeface="Alkalami"/>
                  <a:cs typeface="Alkalami"/>
                  <a:sym typeface="Alkalami"/>
                </a:rPr>
                <a:t>What is your company doing today? </a:t>
              </a:r>
            </a:p>
            <a:p>
              <a:pPr algn="l">
                <a:lnSpc>
                  <a:spcPts val="3120"/>
                </a:lnSpc>
              </a:pPr>
            </a:p>
            <a:p>
              <a:pPr algn="l" marL="518160" indent="-259080" lvl="1">
                <a:lnSpc>
                  <a:spcPts val="3120"/>
                </a:lnSpc>
                <a:buFont typeface="Arial"/>
                <a:buChar char="•"/>
              </a:pPr>
              <a:r>
                <a:rPr lang="en-US" sz="2400">
                  <a:solidFill>
                    <a:srgbClr val="E30408"/>
                  </a:solidFill>
                  <a:latin typeface="Alkalami"/>
                  <a:ea typeface="Alkalami"/>
                  <a:cs typeface="Alkalami"/>
                  <a:sym typeface="Alkalami"/>
                </a:rPr>
                <a:t>How does it contribute to the greater good? </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9912" y="2543175"/>
            <a:ext cx="6685487" cy="5400675"/>
          </a:xfrm>
          <a:prstGeom prst="rect">
            <a:avLst/>
          </a:prstGeom>
        </p:spPr>
        <p:txBody>
          <a:bodyPr anchor="t" rtlCol="false" tIns="0" lIns="0" bIns="0" rIns="0">
            <a:spAutoFit/>
          </a:bodyPr>
          <a:lstStyle/>
          <a:p>
            <a:pPr algn="ctr">
              <a:lnSpc>
                <a:spcPts val="10500"/>
              </a:lnSpc>
            </a:pPr>
            <a:r>
              <a:rPr lang="en-US" sz="10500">
                <a:solidFill>
                  <a:srgbClr val="FFF6EC"/>
                </a:solidFill>
                <a:latin typeface="Bright Retro"/>
                <a:ea typeface="Bright Retro"/>
                <a:cs typeface="Bright Retro"/>
                <a:sym typeface="Bright Retro"/>
              </a:rPr>
              <a:t>Helping People See Data in New Ways</a:t>
            </a:r>
          </a:p>
        </p:txBody>
      </p:sp>
      <p:grpSp>
        <p:nvGrpSpPr>
          <p:cNvPr name="Group 4" id="4"/>
          <p:cNvGrpSpPr/>
          <p:nvPr/>
        </p:nvGrpSpPr>
        <p:grpSpPr>
          <a:xfrm rot="0">
            <a:off x="7714187" y="1053470"/>
            <a:ext cx="9545113" cy="3509064"/>
            <a:chOff x="0" y="0"/>
            <a:chExt cx="12726818" cy="4678751"/>
          </a:xfrm>
        </p:grpSpPr>
        <p:grpSp>
          <p:nvGrpSpPr>
            <p:cNvPr name="Group 5" id="5"/>
            <p:cNvGrpSpPr/>
            <p:nvPr/>
          </p:nvGrpSpPr>
          <p:grpSpPr>
            <a:xfrm rot="0">
              <a:off x="0" y="0"/>
              <a:ext cx="12726818" cy="4678751"/>
              <a:chOff x="0" y="0"/>
              <a:chExt cx="3142611" cy="1155316"/>
            </a:xfrm>
          </p:grpSpPr>
          <p:sp>
            <p:nvSpPr>
              <p:cNvPr name="Freeform 6" id="6"/>
              <p:cNvSpPr/>
              <p:nvPr/>
            </p:nvSpPr>
            <p:spPr>
              <a:xfrm flipH="false" flipV="false" rot="0">
                <a:off x="12700" y="12700"/>
                <a:ext cx="3077842" cy="1086736"/>
              </a:xfrm>
              <a:custGeom>
                <a:avLst/>
                <a:gdLst/>
                <a:ahLst/>
                <a:cxnLst/>
                <a:rect r="r" b="b" t="t" l="l"/>
                <a:pathLst>
                  <a:path h="1086736" w="3077842">
                    <a:moveTo>
                      <a:pt x="146050" y="1086736"/>
                    </a:moveTo>
                    <a:lnTo>
                      <a:pt x="2931792" y="1086736"/>
                    </a:lnTo>
                    <a:cubicBezTo>
                      <a:pt x="3011802" y="1086736"/>
                      <a:pt x="3077842" y="1020696"/>
                      <a:pt x="3077842" y="940686"/>
                    </a:cubicBezTo>
                    <a:lnTo>
                      <a:pt x="3077842" y="146050"/>
                    </a:lnTo>
                    <a:cubicBezTo>
                      <a:pt x="3077842" y="66040"/>
                      <a:pt x="3011802" y="0"/>
                      <a:pt x="2931792" y="0"/>
                    </a:cubicBezTo>
                    <a:lnTo>
                      <a:pt x="146050" y="0"/>
                    </a:lnTo>
                    <a:cubicBezTo>
                      <a:pt x="66040" y="0"/>
                      <a:pt x="0" y="66040"/>
                      <a:pt x="0" y="146050"/>
                    </a:cubicBezTo>
                    <a:lnTo>
                      <a:pt x="0" y="940686"/>
                    </a:lnTo>
                    <a:cubicBezTo>
                      <a:pt x="0" y="1021966"/>
                      <a:pt x="66040" y="1086736"/>
                      <a:pt x="146050" y="1086736"/>
                    </a:cubicBezTo>
                    <a:close/>
                  </a:path>
                </a:pathLst>
              </a:custGeom>
              <a:solidFill>
                <a:srgbClr val="FFF6EC"/>
              </a:solidFill>
            </p:spPr>
          </p:sp>
          <p:sp>
            <p:nvSpPr>
              <p:cNvPr name="Freeform 7" id="7"/>
              <p:cNvSpPr/>
              <p:nvPr/>
            </p:nvSpPr>
            <p:spPr>
              <a:xfrm flipH="false" flipV="false" rot="0">
                <a:off x="0" y="0"/>
                <a:ext cx="3142612" cy="1155316"/>
              </a:xfrm>
              <a:custGeom>
                <a:avLst/>
                <a:gdLst/>
                <a:ahLst/>
                <a:cxnLst/>
                <a:rect r="r" b="b" t="t" l="l"/>
                <a:pathLst>
                  <a:path h="1155316" w="3142612">
                    <a:moveTo>
                      <a:pt x="3079111" y="74930"/>
                    </a:moveTo>
                    <a:cubicBezTo>
                      <a:pt x="3051172" y="30480"/>
                      <a:pt x="3001642" y="0"/>
                      <a:pt x="2944492" y="0"/>
                    </a:cubicBezTo>
                    <a:lnTo>
                      <a:pt x="158750" y="0"/>
                    </a:lnTo>
                    <a:cubicBezTo>
                      <a:pt x="71120" y="0"/>
                      <a:pt x="0" y="71120"/>
                      <a:pt x="0" y="158750"/>
                    </a:cubicBezTo>
                    <a:lnTo>
                      <a:pt x="0" y="953386"/>
                    </a:lnTo>
                    <a:cubicBezTo>
                      <a:pt x="0" y="1005456"/>
                      <a:pt x="25400" y="1051176"/>
                      <a:pt x="63500" y="1080386"/>
                    </a:cubicBezTo>
                    <a:cubicBezTo>
                      <a:pt x="91440" y="1124836"/>
                      <a:pt x="140970" y="1155316"/>
                      <a:pt x="204917" y="1155316"/>
                    </a:cubicBezTo>
                    <a:lnTo>
                      <a:pt x="2983861" y="1155316"/>
                    </a:lnTo>
                    <a:cubicBezTo>
                      <a:pt x="3071492" y="1155316"/>
                      <a:pt x="3142612" y="1084196"/>
                      <a:pt x="3142612" y="996566"/>
                    </a:cubicBezTo>
                    <a:lnTo>
                      <a:pt x="3142612" y="199215"/>
                    </a:lnTo>
                    <a:cubicBezTo>
                      <a:pt x="3142611" y="149860"/>
                      <a:pt x="3117211" y="104140"/>
                      <a:pt x="3079111" y="74930"/>
                    </a:cubicBezTo>
                    <a:close/>
                    <a:moveTo>
                      <a:pt x="12700" y="953386"/>
                    </a:moveTo>
                    <a:lnTo>
                      <a:pt x="12700" y="158750"/>
                    </a:lnTo>
                    <a:cubicBezTo>
                      <a:pt x="12700" y="78740"/>
                      <a:pt x="78740" y="12700"/>
                      <a:pt x="158750" y="12700"/>
                    </a:cubicBezTo>
                    <a:lnTo>
                      <a:pt x="2944492" y="12700"/>
                    </a:lnTo>
                    <a:cubicBezTo>
                      <a:pt x="3024502" y="12700"/>
                      <a:pt x="3090542" y="78740"/>
                      <a:pt x="3090542" y="158750"/>
                    </a:cubicBezTo>
                    <a:lnTo>
                      <a:pt x="3090542" y="953386"/>
                    </a:lnTo>
                    <a:cubicBezTo>
                      <a:pt x="3090542" y="1033396"/>
                      <a:pt x="3024502" y="1099436"/>
                      <a:pt x="2944492" y="1099436"/>
                    </a:cubicBezTo>
                    <a:lnTo>
                      <a:pt x="158750" y="1099436"/>
                    </a:lnTo>
                    <a:cubicBezTo>
                      <a:pt x="78740" y="1099436"/>
                      <a:pt x="12700" y="1034666"/>
                      <a:pt x="12700" y="953386"/>
                    </a:cubicBezTo>
                    <a:close/>
                  </a:path>
                </a:pathLst>
              </a:custGeom>
              <a:solidFill>
                <a:srgbClr val="000000"/>
              </a:solidFill>
            </p:spPr>
          </p:sp>
        </p:grpSp>
        <p:sp>
          <p:nvSpPr>
            <p:cNvPr name="TextBox 8" id="8"/>
            <p:cNvSpPr txBox="true"/>
            <p:nvPr/>
          </p:nvSpPr>
          <p:spPr>
            <a:xfrm rot="0">
              <a:off x="975236" y="2303637"/>
              <a:ext cx="10886188" cy="11696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The fi</a:t>
              </a:r>
              <a:r>
                <a:rPr lang="en-US" sz="1800">
                  <a:solidFill>
                    <a:srgbClr val="E30408"/>
                  </a:solidFill>
                  <a:latin typeface="Alkalami"/>
                  <a:ea typeface="Alkalami"/>
                  <a:cs typeface="Alkalami"/>
                  <a:sym typeface="Alkalami"/>
                </a:rPr>
                <a:t>rst step is transformation. For too long, data has been locked away in complex tables, accessible only to IT experts. Oracle’s goal is to make data visual, intuitive, and accessible to everyone</a:t>
              </a:r>
            </a:p>
          </p:txBody>
        </p:sp>
        <p:sp>
          <p:nvSpPr>
            <p:cNvPr name="TextBox 9" id="9"/>
            <p:cNvSpPr txBox="true"/>
            <p:nvPr/>
          </p:nvSpPr>
          <p:spPr>
            <a:xfrm rot="0">
              <a:off x="975236" y="1036698"/>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Exp</a:t>
              </a:r>
              <a:r>
                <a:rPr lang="en-US" sz="3000">
                  <a:solidFill>
                    <a:srgbClr val="E30408"/>
                  </a:solidFill>
                  <a:latin typeface="Alkalami"/>
                  <a:ea typeface="Alkalami"/>
                  <a:cs typeface="Alkalami"/>
                  <a:sym typeface="Alkalami"/>
                </a:rPr>
                <a:t>lanation</a:t>
              </a:r>
            </a:p>
          </p:txBody>
        </p:sp>
      </p:grpSp>
      <p:grpSp>
        <p:nvGrpSpPr>
          <p:cNvPr name="Group 10" id="10"/>
          <p:cNvGrpSpPr/>
          <p:nvPr/>
        </p:nvGrpSpPr>
        <p:grpSpPr>
          <a:xfrm rot="0">
            <a:off x="7714187" y="5011049"/>
            <a:ext cx="9545113" cy="4394889"/>
            <a:chOff x="0" y="0"/>
            <a:chExt cx="12726818" cy="5859851"/>
          </a:xfrm>
        </p:grpSpPr>
        <p:grpSp>
          <p:nvGrpSpPr>
            <p:cNvPr name="Group 11" id="11"/>
            <p:cNvGrpSpPr/>
            <p:nvPr/>
          </p:nvGrpSpPr>
          <p:grpSpPr>
            <a:xfrm rot="0">
              <a:off x="0" y="0"/>
              <a:ext cx="12726818" cy="5859851"/>
              <a:chOff x="0" y="0"/>
              <a:chExt cx="3142611" cy="1446963"/>
            </a:xfrm>
          </p:grpSpPr>
          <p:sp>
            <p:nvSpPr>
              <p:cNvPr name="Freeform 12" id="12"/>
              <p:cNvSpPr/>
              <p:nvPr/>
            </p:nvSpPr>
            <p:spPr>
              <a:xfrm flipH="false" flipV="false" rot="0">
                <a:off x="12700" y="12700"/>
                <a:ext cx="3077842" cy="1378383"/>
              </a:xfrm>
              <a:custGeom>
                <a:avLst/>
                <a:gdLst/>
                <a:ahLst/>
                <a:cxnLst/>
                <a:rect r="r" b="b" t="t" l="l"/>
                <a:pathLst>
                  <a:path h="1378383" w="3077842">
                    <a:moveTo>
                      <a:pt x="146050" y="1378383"/>
                    </a:moveTo>
                    <a:lnTo>
                      <a:pt x="2931792" y="1378383"/>
                    </a:lnTo>
                    <a:cubicBezTo>
                      <a:pt x="3011802" y="1378383"/>
                      <a:pt x="3077842" y="1312343"/>
                      <a:pt x="3077842" y="1232333"/>
                    </a:cubicBezTo>
                    <a:lnTo>
                      <a:pt x="3077842" y="146050"/>
                    </a:lnTo>
                    <a:cubicBezTo>
                      <a:pt x="3077842" y="66040"/>
                      <a:pt x="3011802" y="0"/>
                      <a:pt x="2931792" y="0"/>
                    </a:cubicBezTo>
                    <a:lnTo>
                      <a:pt x="146050" y="0"/>
                    </a:lnTo>
                    <a:cubicBezTo>
                      <a:pt x="66040" y="0"/>
                      <a:pt x="0" y="66040"/>
                      <a:pt x="0" y="146050"/>
                    </a:cubicBezTo>
                    <a:lnTo>
                      <a:pt x="0" y="1232333"/>
                    </a:lnTo>
                    <a:cubicBezTo>
                      <a:pt x="0" y="1313613"/>
                      <a:pt x="66040" y="1378383"/>
                      <a:pt x="146050" y="1378383"/>
                    </a:cubicBezTo>
                    <a:close/>
                  </a:path>
                </a:pathLst>
              </a:custGeom>
              <a:solidFill>
                <a:srgbClr val="FFF6EC"/>
              </a:solidFill>
            </p:spPr>
          </p:sp>
          <p:sp>
            <p:nvSpPr>
              <p:cNvPr name="Freeform 13" id="13"/>
              <p:cNvSpPr/>
              <p:nvPr/>
            </p:nvSpPr>
            <p:spPr>
              <a:xfrm flipH="false" flipV="false" rot="0">
                <a:off x="0" y="0"/>
                <a:ext cx="3142612" cy="1446963"/>
              </a:xfrm>
              <a:custGeom>
                <a:avLst/>
                <a:gdLst/>
                <a:ahLst/>
                <a:cxnLst/>
                <a:rect r="r" b="b" t="t" l="l"/>
                <a:pathLst>
                  <a:path h="1446963" w="3142612">
                    <a:moveTo>
                      <a:pt x="3079111" y="74930"/>
                    </a:moveTo>
                    <a:cubicBezTo>
                      <a:pt x="3051172" y="30480"/>
                      <a:pt x="3001642" y="0"/>
                      <a:pt x="2944492" y="0"/>
                    </a:cubicBezTo>
                    <a:lnTo>
                      <a:pt x="158750" y="0"/>
                    </a:lnTo>
                    <a:cubicBezTo>
                      <a:pt x="71120" y="0"/>
                      <a:pt x="0" y="71120"/>
                      <a:pt x="0" y="158750"/>
                    </a:cubicBezTo>
                    <a:lnTo>
                      <a:pt x="0" y="1245033"/>
                    </a:lnTo>
                    <a:cubicBezTo>
                      <a:pt x="0" y="1297103"/>
                      <a:pt x="25400" y="1342823"/>
                      <a:pt x="63500" y="1372033"/>
                    </a:cubicBezTo>
                    <a:cubicBezTo>
                      <a:pt x="91440" y="1416483"/>
                      <a:pt x="140970" y="1446963"/>
                      <a:pt x="204917" y="1446963"/>
                    </a:cubicBezTo>
                    <a:lnTo>
                      <a:pt x="2983861" y="1446963"/>
                    </a:lnTo>
                    <a:cubicBezTo>
                      <a:pt x="3071492" y="1446963"/>
                      <a:pt x="3142612" y="1375843"/>
                      <a:pt x="3142612" y="1288213"/>
                    </a:cubicBezTo>
                    <a:lnTo>
                      <a:pt x="3142612" y="200727"/>
                    </a:lnTo>
                    <a:cubicBezTo>
                      <a:pt x="3142611" y="149860"/>
                      <a:pt x="3117211" y="104140"/>
                      <a:pt x="3079111" y="74930"/>
                    </a:cubicBezTo>
                    <a:close/>
                    <a:moveTo>
                      <a:pt x="12700" y="1245033"/>
                    </a:moveTo>
                    <a:lnTo>
                      <a:pt x="12700" y="158750"/>
                    </a:lnTo>
                    <a:cubicBezTo>
                      <a:pt x="12700" y="78740"/>
                      <a:pt x="78740" y="12700"/>
                      <a:pt x="158750" y="12700"/>
                    </a:cubicBezTo>
                    <a:lnTo>
                      <a:pt x="2944492" y="12700"/>
                    </a:lnTo>
                    <a:cubicBezTo>
                      <a:pt x="3024502" y="12700"/>
                      <a:pt x="3090542" y="78740"/>
                      <a:pt x="3090542" y="158750"/>
                    </a:cubicBezTo>
                    <a:lnTo>
                      <a:pt x="3090542" y="1245033"/>
                    </a:lnTo>
                    <a:cubicBezTo>
                      <a:pt x="3090542" y="1325043"/>
                      <a:pt x="3024502" y="1391083"/>
                      <a:pt x="2944492" y="1391083"/>
                    </a:cubicBezTo>
                    <a:lnTo>
                      <a:pt x="158750" y="1391083"/>
                    </a:lnTo>
                    <a:cubicBezTo>
                      <a:pt x="78740" y="1391083"/>
                      <a:pt x="12700" y="1326313"/>
                      <a:pt x="12700" y="1245033"/>
                    </a:cubicBezTo>
                    <a:close/>
                  </a:path>
                </a:pathLst>
              </a:custGeom>
              <a:solidFill>
                <a:srgbClr val="000000"/>
              </a:solidFill>
            </p:spPr>
          </p:sp>
        </p:grpSp>
        <p:sp>
          <p:nvSpPr>
            <p:cNvPr name="TextBox 14" id="14"/>
            <p:cNvSpPr txBox="true"/>
            <p:nvPr/>
          </p:nvSpPr>
          <p:spPr>
            <a:xfrm rot="0">
              <a:off x="975236" y="2325778"/>
              <a:ext cx="10886188" cy="23507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This is </a:t>
              </a:r>
              <a:r>
                <a:rPr lang="en-US" sz="1800">
                  <a:solidFill>
                    <a:srgbClr val="E30408"/>
                  </a:solidFill>
                  <a:latin typeface="Alkalami"/>
                  <a:ea typeface="Alkalami"/>
                  <a:cs typeface="Alkalami"/>
                  <a:sym typeface="Alkalami"/>
                </a:rPr>
                <a:t>the purpose of tools like the Oracle Analytics Cloud, which provides easy-to-use, interactive dashboards andreal-time reports. It turns confusing, complex data into clear, engaging visualizations. Think of a sales managerinstantly seeing performance trends on a dashboard instead of sifting through spreadsheets—that’s how Oracle ishelping customers shift their focus from data collection to data understanding.</a:t>
              </a:r>
            </a:p>
          </p:txBody>
        </p:sp>
        <p:sp>
          <p:nvSpPr>
            <p:cNvPr name="TextBox 15" id="15"/>
            <p:cNvSpPr txBox="true"/>
            <p:nvPr/>
          </p:nvSpPr>
          <p:spPr>
            <a:xfrm rot="0">
              <a:off x="975236" y="1058839"/>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And the ex</a:t>
              </a:r>
              <a:r>
                <a:rPr lang="en-US" sz="3000">
                  <a:solidFill>
                    <a:srgbClr val="E30408"/>
                  </a:solidFill>
                  <a:latin typeface="Alkalami"/>
                  <a:ea typeface="Alkalami"/>
                  <a:cs typeface="Alkalami"/>
                  <a:sym typeface="Alkalami"/>
                </a:rPr>
                <a:t>ample of it is </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9912" y="3876675"/>
            <a:ext cx="6685487" cy="2733675"/>
          </a:xfrm>
          <a:prstGeom prst="rect">
            <a:avLst/>
          </a:prstGeom>
        </p:spPr>
        <p:txBody>
          <a:bodyPr anchor="t" rtlCol="false" tIns="0" lIns="0" bIns="0" rIns="0">
            <a:spAutoFit/>
          </a:bodyPr>
          <a:lstStyle/>
          <a:p>
            <a:pPr algn="ctr">
              <a:lnSpc>
                <a:spcPts val="10500"/>
              </a:lnSpc>
            </a:pPr>
            <a:r>
              <a:rPr lang="en-US" sz="10500">
                <a:solidFill>
                  <a:srgbClr val="FFF6EC"/>
                </a:solidFill>
                <a:latin typeface="Bright Retro"/>
                <a:ea typeface="Bright Retro"/>
                <a:cs typeface="Bright Retro"/>
                <a:sym typeface="Bright Retro"/>
              </a:rPr>
              <a:t>Discover Insights</a:t>
            </a:r>
          </a:p>
        </p:txBody>
      </p:sp>
      <p:grpSp>
        <p:nvGrpSpPr>
          <p:cNvPr name="Group 4" id="4"/>
          <p:cNvGrpSpPr/>
          <p:nvPr/>
        </p:nvGrpSpPr>
        <p:grpSpPr>
          <a:xfrm rot="0">
            <a:off x="7714187" y="1053470"/>
            <a:ext cx="9545113" cy="3509064"/>
            <a:chOff x="0" y="0"/>
            <a:chExt cx="12726818" cy="4678751"/>
          </a:xfrm>
        </p:grpSpPr>
        <p:grpSp>
          <p:nvGrpSpPr>
            <p:cNvPr name="Group 5" id="5"/>
            <p:cNvGrpSpPr/>
            <p:nvPr/>
          </p:nvGrpSpPr>
          <p:grpSpPr>
            <a:xfrm rot="0">
              <a:off x="0" y="0"/>
              <a:ext cx="12726818" cy="4678751"/>
              <a:chOff x="0" y="0"/>
              <a:chExt cx="3142611" cy="1155316"/>
            </a:xfrm>
          </p:grpSpPr>
          <p:sp>
            <p:nvSpPr>
              <p:cNvPr name="Freeform 6" id="6"/>
              <p:cNvSpPr/>
              <p:nvPr/>
            </p:nvSpPr>
            <p:spPr>
              <a:xfrm flipH="false" flipV="false" rot="0">
                <a:off x="12700" y="12700"/>
                <a:ext cx="3077842" cy="1086736"/>
              </a:xfrm>
              <a:custGeom>
                <a:avLst/>
                <a:gdLst/>
                <a:ahLst/>
                <a:cxnLst/>
                <a:rect r="r" b="b" t="t" l="l"/>
                <a:pathLst>
                  <a:path h="1086736" w="3077842">
                    <a:moveTo>
                      <a:pt x="146050" y="1086736"/>
                    </a:moveTo>
                    <a:lnTo>
                      <a:pt x="2931792" y="1086736"/>
                    </a:lnTo>
                    <a:cubicBezTo>
                      <a:pt x="3011802" y="1086736"/>
                      <a:pt x="3077842" y="1020696"/>
                      <a:pt x="3077842" y="940686"/>
                    </a:cubicBezTo>
                    <a:lnTo>
                      <a:pt x="3077842" y="146050"/>
                    </a:lnTo>
                    <a:cubicBezTo>
                      <a:pt x="3077842" y="66040"/>
                      <a:pt x="3011802" y="0"/>
                      <a:pt x="2931792" y="0"/>
                    </a:cubicBezTo>
                    <a:lnTo>
                      <a:pt x="146050" y="0"/>
                    </a:lnTo>
                    <a:cubicBezTo>
                      <a:pt x="66040" y="0"/>
                      <a:pt x="0" y="66040"/>
                      <a:pt x="0" y="146050"/>
                    </a:cubicBezTo>
                    <a:lnTo>
                      <a:pt x="0" y="940686"/>
                    </a:lnTo>
                    <a:cubicBezTo>
                      <a:pt x="0" y="1021966"/>
                      <a:pt x="66040" y="1086736"/>
                      <a:pt x="146050" y="1086736"/>
                    </a:cubicBezTo>
                    <a:close/>
                  </a:path>
                </a:pathLst>
              </a:custGeom>
              <a:solidFill>
                <a:srgbClr val="FFF6EC"/>
              </a:solidFill>
            </p:spPr>
          </p:sp>
          <p:sp>
            <p:nvSpPr>
              <p:cNvPr name="Freeform 7" id="7"/>
              <p:cNvSpPr/>
              <p:nvPr/>
            </p:nvSpPr>
            <p:spPr>
              <a:xfrm flipH="false" flipV="false" rot="0">
                <a:off x="0" y="0"/>
                <a:ext cx="3142612" cy="1155316"/>
              </a:xfrm>
              <a:custGeom>
                <a:avLst/>
                <a:gdLst/>
                <a:ahLst/>
                <a:cxnLst/>
                <a:rect r="r" b="b" t="t" l="l"/>
                <a:pathLst>
                  <a:path h="1155316" w="3142612">
                    <a:moveTo>
                      <a:pt x="3079111" y="74930"/>
                    </a:moveTo>
                    <a:cubicBezTo>
                      <a:pt x="3051172" y="30480"/>
                      <a:pt x="3001642" y="0"/>
                      <a:pt x="2944492" y="0"/>
                    </a:cubicBezTo>
                    <a:lnTo>
                      <a:pt x="158750" y="0"/>
                    </a:lnTo>
                    <a:cubicBezTo>
                      <a:pt x="71120" y="0"/>
                      <a:pt x="0" y="71120"/>
                      <a:pt x="0" y="158750"/>
                    </a:cubicBezTo>
                    <a:lnTo>
                      <a:pt x="0" y="953386"/>
                    </a:lnTo>
                    <a:cubicBezTo>
                      <a:pt x="0" y="1005456"/>
                      <a:pt x="25400" y="1051176"/>
                      <a:pt x="63500" y="1080386"/>
                    </a:cubicBezTo>
                    <a:cubicBezTo>
                      <a:pt x="91440" y="1124836"/>
                      <a:pt x="140970" y="1155316"/>
                      <a:pt x="204917" y="1155316"/>
                    </a:cubicBezTo>
                    <a:lnTo>
                      <a:pt x="2983861" y="1155316"/>
                    </a:lnTo>
                    <a:cubicBezTo>
                      <a:pt x="3071492" y="1155316"/>
                      <a:pt x="3142612" y="1084196"/>
                      <a:pt x="3142612" y="996566"/>
                    </a:cubicBezTo>
                    <a:lnTo>
                      <a:pt x="3142612" y="199215"/>
                    </a:lnTo>
                    <a:cubicBezTo>
                      <a:pt x="3142611" y="149860"/>
                      <a:pt x="3117211" y="104140"/>
                      <a:pt x="3079111" y="74930"/>
                    </a:cubicBezTo>
                    <a:close/>
                    <a:moveTo>
                      <a:pt x="12700" y="953386"/>
                    </a:moveTo>
                    <a:lnTo>
                      <a:pt x="12700" y="158750"/>
                    </a:lnTo>
                    <a:cubicBezTo>
                      <a:pt x="12700" y="78740"/>
                      <a:pt x="78740" y="12700"/>
                      <a:pt x="158750" y="12700"/>
                    </a:cubicBezTo>
                    <a:lnTo>
                      <a:pt x="2944492" y="12700"/>
                    </a:lnTo>
                    <a:cubicBezTo>
                      <a:pt x="3024502" y="12700"/>
                      <a:pt x="3090542" y="78740"/>
                      <a:pt x="3090542" y="158750"/>
                    </a:cubicBezTo>
                    <a:lnTo>
                      <a:pt x="3090542" y="953386"/>
                    </a:lnTo>
                    <a:cubicBezTo>
                      <a:pt x="3090542" y="1033396"/>
                      <a:pt x="3024502" y="1099436"/>
                      <a:pt x="2944492" y="1099436"/>
                    </a:cubicBezTo>
                    <a:lnTo>
                      <a:pt x="158750" y="1099436"/>
                    </a:lnTo>
                    <a:cubicBezTo>
                      <a:pt x="78740" y="1099436"/>
                      <a:pt x="12700" y="1034666"/>
                      <a:pt x="12700" y="953386"/>
                    </a:cubicBezTo>
                    <a:close/>
                  </a:path>
                </a:pathLst>
              </a:custGeom>
              <a:solidFill>
                <a:srgbClr val="000000"/>
              </a:solidFill>
            </p:spPr>
          </p:sp>
        </p:grpSp>
        <p:sp>
          <p:nvSpPr>
            <p:cNvPr name="TextBox 8" id="8"/>
            <p:cNvSpPr txBox="true"/>
            <p:nvPr/>
          </p:nvSpPr>
          <p:spPr>
            <a:xfrm rot="0">
              <a:off x="975236" y="2303637"/>
              <a:ext cx="10886188" cy="11696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Seeing</a:t>
              </a:r>
              <a:r>
                <a:rPr lang="en-US" sz="1800">
                  <a:solidFill>
                    <a:srgbClr val="E30408"/>
                  </a:solidFill>
                  <a:latin typeface="Alkalami"/>
                  <a:ea typeface="Alkalami"/>
                  <a:cs typeface="Alkalami"/>
                  <a:sym typeface="Alkalami"/>
                </a:rPr>
                <a:t> the data clearly leads to the next crucial step: discovering valuable insights to enable smarter business decisions. This is where Oracle injects the power of Machine Learning and automation.</a:t>
              </a:r>
            </a:p>
          </p:txBody>
        </p:sp>
        <p:sp>
          <p:nvSpPr>
            <p:cNvPr name="TextBox 9" id="9"/>
            <p:cNvSpPr txBox="true"/>
            <p:nvPr/>
          </p:nvSpPr>
          <p:spPr>
            <a:xfrm rot="0">
              <a:off x="975236" y="1036698"/>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Exp</a:t>
              </a:r>
              <a:r>
                <a:rPr lang="en-US" sz="3000">
                  <a:solidFill>
                    <a:srgbClr val="E30408"/>
                  </a:solidFill>
                  <a:latin typeface="Alkalami"/>
                  <a:ea typeface="Alkalami"/>
                  <a:cs typeface="Alkalami"/>
                  <a:sym typeface="Alkalami"/>
                </a:rPr>
                <a:t>lanation</a:t>
              </a:r>
            </a:p>
          </p:txBody>
        </p:sp>
      </p:grpSp>
      <p:grpSp>
        <p:nvGrpSpPr>
          <p:cNvPr name="Group 10" id="10"/>
          <p:cNvGrpSpPr/>
          <p:nvPr/>
        </p:nvGrpSpPr>
        <p:grpSpPr>
          <a:xfrm rot="0">
            <a:off x="7714187" y="5306324"/>
            <a:ext cx="9545113" cy="3804339"/>
            <a:chOff x="0" y="0"/>
            <a:chExt cx="12726818" cy="5072451"/>
          </a:xfrm>
        </p:grpSpPr>
        <p:grpSp>
          <p:nvGrpSpPr>
            <p:cNvPr name="Group 11" id="11"/>
            <p:cNvGrpSpPr/>
            <p:nvPr/>
          </p:nvGrpSpPr>
          <p:grpSpPr>
            <a:xfrm rot="0">
              <a:off x="0" y="0"/>
              <a:ext cx="12726818" cy="5072451"/>
              <a:chOff x="0" y="0"/>
              <a:chExt cx="3142611" cy="1252532"/>
            </a:xfrm>
          </p:grpSpPr>
          <p:sp>
            <p:nvSpPr>
              <p:cNvPr name="Freeform 12" id="12"/>
              <p:cNvSpPr/>
              <p:nvPr/>
            </p:nvSpPr>
            <p:spPr>
              <a:xfrm flipH="false" flipV="false" rot="0">
                <a:off x="12700" y="12700"/>
                <a:ext cx="3077842" cy="1183952"/>
              </a:xfrm>
              <a:custGeom>
                <a:avLst/>
                <a:gdLst/>
                <a:ahLst/>
                <a:cxnLst/>
                <a:rect r="r" b="b" t="t" l="l"/>
                <a:pathLst>
                  <a:path h="1183952" w="3077842">
                    <a:moveTo>
                      <a:pt x="146050" y="1183952"/>
                    </a:moveTo>
                    <a:lnTo>
                      <a:pt x="2931792" y="1183952"/>
                    </a:lnTo>
                    <a:cubicBezTo>
                      <a:pt x="3011802" y="1183952"/>
                      <a:pt x="3077842" y="1117912"/>
                      <a:pt x="3077842" y="1037902"/>
                    </a:cubicBezTo>
                    <a:lnTo>
                      <a:pt x="3077842" y="146050"/>
                    </a:lnTo>
                    <a:cubicBezTo>
                      <a:pt x="3077842" y="66040"/>
                      <a:pt x="3011802" y="0"/>
                      <a:pt x="2931792" y="0"/>
                    </a:cubicBezTo>
                    <a:lnTo>
                      <a:pt x="146050" y="0"/>
                    </a:lnTo>
                    <a:cubicBezTo>
                      <a:pt x="66040" y="0"/>
                      <a:pt x="0" y="66040"/>
                      <a:pt x="0" y="146050"/>
                    </a:cubicBezTo>
                    <a:lnTo>
                      <a:pt x="0" y="1037902"/>
                    </a:lnTo>
                    <a:cubicBezTo>
                      <a:pt x="0" y="1119182"/>
                      <a:pt x="66040" y="1183952"/>
                      <a:pt x="146050" y="1183952"/>
                    </a:cubicBezTo>
                    <a:close/>
                  </a:path>
                </a:pathLst>
              </a:custGeom>
              <a:solidFill>
                <a:srgbClr val="FFF6EC"/>
              </a:solidFill>
            </p:spPr>
          </p:sp>
          <p:sp>
            <p:nvSpPr>
              <p:cNvPr name="Freeform 13" id="13"/>
              <p:cNvSpPr/>
              <p:nvPr/>
            </p:nvSpPr>
            <p:spPr>
              <a:xfrm flipH="false" flipV="false" rot="0">
                <a:off x="0" y="0"/>
                <a:ext cx="3142612" cy="1252532"/>
              </a:xfrm>
              <a:custGeom>
                <a:avLst/>
                <a:gdLst/>
                <a:ahLst/>
                <a:cxnLst/>
                <a:rect r="r" b="b" t="t" l="l"/>
                <a:pathLst>
                  <a:path h="1252532" w="3142612">
                    <a:moveTo>
                      <a:pt x="3079111" y="74930"/>
                    </a:moveTo>
                    <a:cubicBezTo>
                      <a:pt x="3051172" y="30480"/>
                      <a:pt x="3001642" y="0"/>
                      <a:pt x="2944492" y="0"/>
                    </a:cubicBezTo>
                    <a:lnTo>
                      <a:pt x="158750" y="0"/>
                    </a:lnTo>
                    <a:cubicBezTo>
                      <a:pt x="71120" y="0"/>
                      <a:pt x="0" y="71120"/>
                      <a:pt x="0" y="158750"/>
                    </a:cubicBezTo>
                    <a:lnTo>
                      <a:pt x="0" y="1050602"/>
                    </a:lnTo>
                    <a:cubicBezTo>
                      <a:pt x="0" y="1102672"/>
                      <a:pt x="25400" y="1148392"/>
                      <a:pt x="63500" y="1177602"/>
                    </a:cubicBezTo>
                    <a:cubicBezTo>
                      <a:pt x="91440" y="1222052"/>
                      <a:pt x="140970" y="1252532"/>
                      <a:pt x="204917" y="1252532"/>
                    </a:cubicBezTo>
                    <a:lnTo>
                      <a:pt x="2983861" y="1252532"/>
                    </a:lnTo>
                    <a:cubicBezTo>
                      <a:pt x="3071492" y="1252532"/>
                      <a:pt x="3142612" y="1181412"/>
                      <a:pt x="3142612" y="1093782"/>
                    </a:cubicBezTo>
                    <a:lnTo>
                      <a:pt x="3142612" y="199719"/>
                    </a:lnTo>
                    <a:cubicBezTo>
                      <a:pt x="3142611" y="149860"/>
                      <a:pt x="3117211" y="104140"/>
                      <a:pt x="3079111" y="74930"/>
                    </a:cubicBezTo>
                    <a:close/>
                    <a:moveTo>
                      <a:pt x="12700" y="1050602"/>
                    </a:moveTo>
                    <a:lnTo>
                      <a:pt x="12700" y="158750"/>
                    </a:lnTo>
                    <a:cubicBezTo>
                      <a:pt x="12700" y="78740"/>
                      <a:pt x="78740" y="12700"/>
                      <a:pt x="158750" y="12700"/>
                    </a:cubicBezTo>
                    <a:lnTo>
                      <a:pt x="2944492" y="12700"/>
                    </a:lnTo>
                    <a:cubicBezTo>
                      <a:pt x="3024502" y="12700"/>
                      <a:pt x="3090542" y="78740"/>
                      <a:pt x="3090542" y="158750"/>
                    </a:cubicBezTo>
                    <a:lnTo>
                      <a:pt x="3090542" y="1050602"/>
                    </a:lnTo>
                    <a:cubicBezTo>
                      <a:pt x="3090542" y="1130612"/>
                      <a:pt x="3024502" y="1196652"/>
                      <a:pt x="2944492" y="1196652"/>
                    </a:cubicBezTo>
                    <a:lnTo>
                      <a:pt x="158750" y="1196652"/>
                    </a:lnTo>
                    <a:cubicBezTo>
                      <a:pt x="78740" y="1196652"/>
                      <a:pt x="12700" y="1131882"/>
                      <a:pt x="12700" y="1050602"/>
                    </a:cubicBezTo>
                    <a:close/>
                  </a:path>
                </a:pathLst>
              </a:custGeom>
              <a:solidFill>
                <a:srgbClr val="000000"/>
              </a:solidFill>
            </p:spPr>
          </p:sp>
        </p:grpSp>
        <p:sp>
          <p:nvSpPr>
            <p:cNvPr name="TextBox 14" id="14"/>
            <p:cNvSpPr txBox="true"/>
            <p:nvPr/>
          </p:nvSpPr>
          <p:spPr>
            <a:xfrm rot="0">
              <a:off x="975236" y="2325778"/>
              <a:ext cx="10886188" cy="15633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The ultima</a:t>
              </a:r>
              <a:r>
                <a:rPr lang="en-US" sz="1800">
                  <a:solidFill>
                    <a:srgbClr val="E30408"/>
                  </a:solidFill>
                  <a:latin typeface="Alkalami"/>
                  <a:ea typeface="Alkalami"/>
                  <a:cs typeface="Alkalami"/>
                  <a:sym typeface="Alkalami"/>
                </a:rPr>
                <a:t>te example of this is the Oracle Autonomous Database. It's a self-managing database powered by AI that automates everything—tuning, patching, and backups. It frees up customers' time so they can focus entirely on the analysis</a:t>
              </a:r>
            </a:p>
          </p:txBody>
        </p:sp>
        <p:sp>
          <p:nvSpPr>
            <p:cNvPr name="TextBox 15" id="15"/>
            <p:cNvSpPr txBox="true"/>
            <p:nvPr/>
          </p:nvSpPr>
          <p:spPr>
            <a:xfrm rot="0">
              <a:off x="975236" y="1058839"/>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And the ex</a:t>
              </a:r>
              <a:r>
                <a:rPr lang="en-US" sz="3000">
                  <a:solidFill>
                    <a:srgbClr val="E30408"/>
                  </a:solidFill>
                  <a:latin typeface="Alkalami"/>
                  <a:ea typeface="Alkalami"/>
                  <a:cs typeface="Alkalami"/>
                  <a:sym typeface="Alkalami"/>
                </a:rPr>
                <a:t>ample of it is </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87EFB"/>
        </a:solidFill>
      </p:bgPr>
    </p:bg>
    <p:spTree>
      <p:nvGrpSpPr>
        <p:cNvPr id="1" name=""/>
        <p:cNvGrpSpPr/>
        <p:nvPr/>
      </p:nvGrpSpPr>
      <p:grpSpPr>
        <a:xfrm>
          <a:off x="0" y="0"/>
          <a:ext cx="0" cy="0"/>
          <a:chOff x="0" y="0"/>
          <a:chExt cx="0" cy="0"/>
        </a:xfrm>
      </p:grpSpPr>
      <p:sp>
        <p:nvSpPr>
          <p:cNvPr name="Freeform 2" id="2"/>
          <p:cNvSpPr/>
          <p:nvPr/>
        </p:nvSpPr>
        <p:spPr>
          <a:xfrm flipH="false" flipV="false" rot="604046">
            <a:off x="14082324" y="2443953"/>
            <a:ext cx="8411352" cy="8862536"/>
          </a:xfrm>
          <a:custGeom>
            <a:avLst/>
            <a:gdLst/>
            <a:ahLst/>
            <a:cxnLst/>
            <a:rect r="r" b="b" t="t" l="l"/>
            <a:pathLst>
              <a:path h="8862536" w="8411352">
                <a:moveTo>
                  <a:pt x="0" y="0"/>
                </a:moveTo>
                <a:lnTo>
                  <a:pt x="8411352" y="0"/>
                </a:lnTo>
                <a:lnTo>
                  <a:pt x="8411352" y="8862536"/>
                </a:lnTo>
                <a:lnTo>
                  <a:pt x="0" y="88625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89912" y="3209925"/>
            <a:ext cx="6685487" cy="4067175"/>
          </a:xfrm>
          <a:prstGeom prst="rect">
            <a:avLst/>
          </a:prstGeom>
        </p:spPr>
        <p:txBody>
          <a:bodyPr anchor="t" rtlCol="false" tIns="0" lIns="0" bIns="0" rIns="0">
            <a:spAutoFit/>
          </a:bodyPr>
          <a:lstStyle/>
          <a:p>
            <a:pPr algn="ctr">
              <a:lnSpc>
                <a:spcPts val="10500"/>
              </a:lnSpc>
            </a:pPr>
            <a:r>
              <a:rPr lang="en-US" sz="10500">
                <a:solidFill>
                  <a:srgbClr val="FFF6EC"/>
                </a:solidFill>
                <a:latin typeface="Bright Retro"/>
                <a:ea typeface="Bright Retro"/>
                <a:cs typeface="Bright Retro"/>
                <a:sym typeface="Bright Retro"/>
              </a:rPr>
              <a:t>Unlock Endless Possibilities</a:t>
            </a:r>
          </a:p>
        </p:txBody>
      </p:sp>
      <p:grpSp>
        <p:nvGrpSpPr>
          <p:cNvPr name="Group 4" id="4"/>
          <p:cNvGrpSpPr/>
          <p:nvPr/>
        </p:nvGrpSpPr>
        <p:grpSpPr>
          <a:xfrm rot="0">
            <a:off x="7714187" y="1053470"/>
            <a:ext cx="9545113" cy="3509064"/>
            <a:chOff x="0" y="0"/>
            <a:chExt cx="12726818" cy="4678751"/>
          </a:xfrm>
        </p:grpSpPr>
        <p:grpSp>
          <p:nvGrpSpPr>
            <p:cNvPr name="Group 5" id="5"/>
            <p:cNvGrpSpPr/>
            <p:nvPr/>
          </p:nvGrpSpPr>
          <p:grpSpPr>
            <a:xfrm rot="0">
              <a:off x="0" y="0"/>
              <a:ext cx="12726818" cy="4678751"/>
              <a:chOff x="0" y="0"/>
              <a:chExt cx="3142611" cy="1155316"/>
            </a:xfrm>
          </p:grpSpPr>
          <p:sp>
            <p:nvSpPr>
              <p:cNvPr name="Freeform 6" id="6"/>
              <p:cNvSpPr/>
              <p:nvPr/>
            </p:nvSpPr>
            <p:spPr>
              <a:xfrm flipH="false" flipV="false" rot="0">
                <a:off x="12700" y="12700"/>
                <a:ext cx="3077842" cy="1086736"/>
              </a:xfrm>
              <a:custGeom>
                <a:avLst/>
                <a:gdLst/>
                <a:ahLst/>
                <a:cxnLst/>
                <a:rect r="r" b="b" t="t" l="l"/>
                <a:pathLst>
                  <a:path h="1086736" w="3077842">
                    <a:moveTo>
                      <a:pt x="146050" y="1086736"/>
                    </a:moveTo>
                    <a:lnTo>
                      <a:pt x="2931792" y="1086736"/>
                    </a:lnTo>
                    <a:cubicBezTo>
                      <a:pt x="3011802" y="1086736"/>
                      <a:pt x="3077842" y="1020696"/>
                      <a:pt x="3077842" y="940686"/>
                    </a:cubicBezTo>
                    <a:lnTo>
                      <a:pt x="3077842" y="146050"/>
                    </a:lnTo>
                    <a:cubicBezTo>
                      <a:pt x="3077842" y="66040"/>
                      <a:pt x="3011802" y="0"/>
                      <a:pt x="2931792" y="0"/>
                    </a:cubicBezTo>
                    <a:lnTo>
                      <a:pt x="146050" y="0"/>
                    </a:lnTo>
                    <a:cubicBezTo>
                      <a:pt x="66040" y="0"/>
                      <a:pt x="0" y="66040"/>
                      <a:pt x="0" y="146050"/>
                    </a:cubicBezTo>
                    <a:lnTo>
                      <a:pt x="0" y="940686"/>
                    </a:lnTo>
                    <a:cubicBezTo>
                      <a:pt x="0" y="1021966"/>
                      <a:pt x="66040" y="1086736"/>
                      <a:pt x="146050" y="1086736"/>
                    </a:cubicBezTo>
                    <a:close/>
                  </a:path>
                </a:pathLst>
              </a:custGeom>
              <a:solidFill>
                <a:srgbClr val="FFF6EC"/>
              </a:solidFill>
            </p:spPr>
          </p:sp>
          <p:sp>
            <p:nvSpPr>
              <p:cNvPr name="Freeform 7" id="7"/>
              <p:cNvSpPr/>
              <p:nvPr/>
            </p:nvSpPr>
            <p:spPr>
              <a:xfrm flipH="false" flipV="false" rot="0">
                <a:off x="0" y="0"/>
                <a:ext cx="3142612" cy="1155316"/>
              </a:xfrm>
              <a:custGeom>
                <a:avLst/>
                <a:gdLst/>
                <a:ahLst/>
                <a:cxnLst/>
                <a:rect r="r" b="b" t="t" l="l"/>
                <a:pathLst>
                  <a:path h="1155316" w="3142612">
                    <a:moveTo>
                      <a:pt x="3079111" y="74930"/>
                    </a:moveTo>
                    <a:cubicBezTo>
                      <a:pt x="3051172" y="30480"/>
                      <a:pt x="3001642" y="0"/>
                      <a:pt x="2944492" y="0"/>
                    </a:cubicBezTo>
                    <a:lnTo>
                      <a:pt x="158750" y="0"/>
                    </a:lnTo>
                    <a:cubicBezTo>
                      <a:pt x="71120" y="0"/>
                      <a:pt x="0" y="71120"/>
                      <a:pt x="0" y="158750"/>
                    </a:cubicBezTo>
                    <a:lnTo>
                      <a:pt x="0" y="953386"/>
                    </a:lnTo>
                    <a:cubicBezTo>
                      <a:pt x="0" y="1005456"/>
                      <a:pt x="25400" y="1051176"/>
                      <a:pt x="63500" y="1080386"/>
                    </a:cubicBezTo>
                    <a:cubicBezTo>
                      <a:pt x="91440" y="1124836"/>
                      <a:pt x="140970" y="1155316"/>
                      <a:pt x="204917" y="1155316"/>
                    </a:cubicBezTo>
                    <a:lnTo>
                      <a:pt x="2983861" y="1155316"/>
                    </a:lnTo>
                    <a:cubicBezTo>
                      <a:pt x="3071492" y="1155316"/>
                      <a:pt x="3142612" y="1084196"/>
                      <a:pt x="3142612" y="996566"/>
                    </a:cubicBezTo>
                    <a:lnTo>
                      <a:pt x="3142612" y="199215"/>
                    </a:lnTo>
                    <a:cubicBezTo>
                      <a:pt x="3142611" y="149860"/>
                      <a:pt x="3117211" y="104140"/>
                      <a:pt x="3079111" y="74930"/>
                    </a:cubicBezTo>
                    <a:close/>
                    <a:moveTo>
                      <a:pt x="12700" y="953386"/>
                    </a:moveTo>
                    <a:lnTo>
                      <a:pt x="12700" y="158750"/>
                    </a:lnTo>
                    <a:cubicBezTo>
                      <a:pt x="12700" y="78740"/>
                      <a:pt x="78740" y="12700"/>
                      <a:pt x="158750" y="12700"/>
                    </a:cubicBezTo>
                    <a:lnTo>
                      <a:pt x="2944492" y="12700"/>
                    </a:lnTo>
                    <a:cubicBezTo>
                      <a:pt x="3024502" y="12700"/>
                      <a:pt x="3090542" y="78740"/>
                      <a:pt x="3090542" y="158750"/>
                    </a:cubicBezTo>
                    <a:lnTo>
                      <a:pt x="3090542" y="953386"/>
                    </a:lnTo>
                    <a:cubicBezTo>
                      <a:pt x="3090542" y="1033396"/>
                      <a:pt x="3024502" y="1099436"/>
                      <a:pt x="2944492" y="1099436"/>
                    </a:cubicBezTo>
                    <a:lnTo>
                      <a:pt x="158750" y="1099436"/>
                    </a:lnTo>
                    <a:cubicBezTo>
                      <a:pt x="78740" y="1099436"/>
                      <a:pt x="12700" y="1034666"/>
                      <a:pt x="12700" y="953386"/>
                    </a:cubicBezTo>
                    <a:close/>
                  </a:path>
                </a:pathLst>
              </a:custGeom>
              <a:solidFill>
                <a:srgbClr val="000000"/>
              </a:solidFill>
            </p:spPr>
          </p:sp>
        </p:grpSp>
        <p:sp>
          <p:nvSpPr>
            <p:cNvPr name="TextBox 8" id="8"/>
            <p:cNvSpPr txBox="true"/>
            <p:nvPr/>
          </p:nvSpPr>
          <p:spPr>
            <a:xfrm rot="0">
              <a:off x="975236" y="2303637"/>
              <a:ext cx="10886188" cy="11696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a:t>
              </a:r>
              <a:r>
                <a:rPr lang="en-US" sz="1800">
                  <a:solidFill>
                    <a:srgbClr val="E30408"/>
                  </a:solidFill>
                  <a:latin typeface="Alkalami"/>
                  <a:ea typeface="Alkalami"/>
                  <a:cs typeface="Alkalami"/>
                  <a:sym typeface="Alkalami"/>
                </a:rPr>
                <a:t>he final and most ambitious pillar is Unlocking Endless Possibilities. This is the vision for innovation—providingthe technological runway for customers to reimagine what is possible</a:t>
              </a:r>
            </a:p>
          </p:txBody>
        </p:sp>
        <p:sp>
          <p:nvSpPr>
            <p:cNvPr name="TextBox 9" id="9"/>
            <p:cNvSpPr txBox="true"/>
            <p:nvPr/>
          </p:nvSpPr>
          <p:spPr>
            <a:xfrm rot="0">
              <a:off x="975236" y="1036698"/>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Exp</a:t>
              </a:r>
              <a:r>
                <a:rPr lang="en-US" sz="3000">
                  <a:solidFill>
                    <a:srgbClr val="E30408"/>
                  </a:solidFill>
                  <a:latin typeface="Alkalami"/>
                  <a:ea typeface="Alkalami"/>
                  <a:cs typeface="Alkalami"/>
                  <a:sym typeface="Alkalami"/>
                </a:rPr>
                <a:t>lanation</a:t>
              </a:r>
            </a:p>
          </p:txBody>
        </p:sp>
      </p:grpSp>
      <p:grpSp>
        <p:nvGrpSpPr>
          <p:cNvPr name="Group 10" id="10"/>
          <p:cNvGrpSpPr/>
          <p:nvPr/>
        </p:nvGrpSpPr>
        <p:grpSpPr>
          <a:xfrm rot="0">
            <a:off x="7714187" y="4863411"/>
            <a:ext cx="9545113" cy="4690164"/>
            <a:chOff x="0" y="0"/>
            <a:chExt cx="12726818" cy="6253551"/>
          </a:xfrm>
        </p:grpSpPr>
        <p:grpSp>
          <p:nvGrpSpPr>
            <p:cNvPr name="Group 11" id="11"/>
            <p:cNvGrpSpPr/>
            <p:nvPr/>
          </p:nvGrpSpPr>
          <p:grpSpPr>
            <a:xfrm rot="0">
              <a:off x="0" y="0"/>
              <a:ext cx="12726818" cy="6253551"/>
              <a:chOff x="0" y="0"/>
              <a:chExt cx="3142611" cy="1544179"/>
            </a:xfrm>
          </p:grpSpPr>
          <p:sp>
            <p:nvSpPr>
              <p:cNvPr name="Freeform 12" id="12"/>
              <p:cNvSpPr/>
              <p:nvPr/>
            </p:nvSpPr>
            <p:spPr>
              <a:xfrm flipH="false" flipV="false" rot="0">
                <a:off x="12700" y="12700"/>
                <a:ext cx="3077842" cy="1475599"/>
              </a:xfrm>
              <a:custGeom>
                <a:avLst/>
                <a:gdLst/>
                <a:ahLst/>
                <a:cxnLst/>
                <a:rect r="r" b="b" t="t" l="l"/>
                <a:pathLst>
                  <a:path h="1475599" w="3077842">
                    <a:moveTo>
                      <a:pt x="146050" y="1475599"/>
                    </a:moveTo>
                    <a:lnTo>
                      <a:pt x="2931792" y="1475599"/>
                    </a:lnTo>
                    <a:cubicBezTo>
                      <a:pt x="3011802" y="1475599"/>
                      <a:pt x="3077842" y="1409559"/>
                      <a:pt x="3077842" y="1329549"/>
                    </a:cubicBezTo>
                    <a:lnTo>
                      <a:pt x="3077842" y="146050"/>
                    </a:lnTo>
                    <a:cubicBezTo>
                      <a:pt x="3077842" y="66040"/>
                      <a:pt x="3011802" y="0"/>
                      <a:pt x="2931792" y="0"/>
                    </a:cubicBezTo>
                    <a:lnTo>
                      <a:pt x="146050" y="0"/>
                    </a:lnTo>
                    <a:cubicBezTo>
                      <a:pt x="66040" y="0"/>
                      <a:pt x="0" y="66040"/>
                      <a:pt x="0" y="146050"/>
                    </a:cubicBezTo>
                    <a:lnTo>
                      <a:pt x="0" y="1329549"/>
                    </a:lnTo>
                    <a:cubicBezTo>
                      <a:pt x="0" y="1410829"/>
                      <a:pt x="66040" y="1475599"/>
                      <a:pt x="146050" y="1475599"/>
                    </a:cubicBezTo>
                    <a:close/>
                  </a:path>
                </a:pathLst>
              </a:custGeom>
              <a:solidFill>
                <a:srgbClr val="FFF6EC"/>
              </a:solidFill>
            </p:spPr>
          </p:sp>
          <p:sp>
            <p:nvSpPr>
              <p:cNvPr name="Freeform 13" id="13"/>
              <p:cNvSpPr/>
              <p:nvPr/>
            </p:nvSpPr>
            <p:spPr>
              <a:xfrm flipH="false" flipV="false" rot="0">
                <a:off x="0" y="0"/>
                <a:ext cx="3142612" cy="1544179"/>
              </a:xfrm>
              <a:custGeom>
                <a:avLst/>
                <a:gdLst/>
                <a:ahLst/>
                <a:cxnLst/>
                <a:rect r="r" b="b" t="t" l="l"/>
                <a:pathLst>
                  <a:path h="1544179" w="3142612">
                    <a:moveTo>
                      <a:pt x="3079111" y="74930"/>
                    </a:moveTo>
                    <a:cubicBezTo>
                      <a:pt x="3051172" y="30480"/>
                      <a:pt x="3001642" y="0"/>
                      <a:pt x="2944492" y="0"/>
                    </a:cubicBezTo>
                    <a:lnTo>
                      <a:pt x="158750" y="0"/>
                    </a:lnTo>
                    <a:cubicBezTo>
                      <a:pt x="71120" y="0"/>
                      <a:pt x="0" y="71120"/>
                      <a:pt x="0" y="158750"/>
                    </a:cubicBezTo>
                    <a:lnTo>
                      <a:pt x="0" y="1342249"/>
                    </a:lnTo>
                    <a:cubicBezTo>
                      <a:pt x="0" y="1394319"/>
                      <a:pt x="25400" y="1440039"/>
                      <a:pt x="63500" y="1469249"/>
                    </a:cubicBezTo>
                    <a:cubicBezTo>
                      <a:pt x="91440" y="1513699"/>
                      <a:pt x="140970" y="1544179"/>
                      <a:pt x="204917" y="1544179"/>
                    </a:cubicBezTo>
                    <a:lnTo>
                      <a:pt x="2983861" y="1544179"/>
                    </a:lnTo>
                    <a:cubicBezTo>
                      <a:pt x="3071492" y="1544179"/>
                      <a:pt x="3142612" y="1473059"/>
                      <a:pt x="3142612" y="1385429"/>
                    </a:cubicBezTo>
                    <a:lnTo>
                      <a:pt x="3142612" y="201231"/>
                    </a:lnTo>
                    <a:cubicBezTo>
                      <a:pt x="3142611" y="149860"/>
                      <a:pt x="3117211" y="104140"/>
                      <a:pt x="3079111" y="74930"/>
                    </a:cubicBezTo>
                    <a:close/>
                    <a:moveTo>
                      <a:pt x="12700" y="1342249"/>
                    </a:moveTo>
                    <a:lnTo>
                      <a:pt x="12700" y="158750"/>
                    </a:lnTo>
                    <a:cubicBezTo>
                      <a:pt x="12700" y="78740"/>
                      <a:pt x="78740" y="12700"/>
                      <a:pt x="158750" y="12700"/>
                    </a:cubicBezTo>
                    <a:lnTo>
                      <a:pt x="2944492" y="12700"/>
                    </a:lnTo>
                    <a:cubicBezTo>
                      <a:pt x="3024502" y="12700"/>
                      <a:pt x="3090542" y="78740"/>
                      <a:pt x="3090542" y="158750"/>
                    </a:cubicBezTo>
                    <a:lnTo>
                      <a:pt x="3090542" y="1342249"/>
                    </a:lnTo>
                    <a:cubicBezTo>
                      <a:pt x="3090542" y="1422259"/>
                      <a:pt x="3024502" y="1488299"/>
                      <a:pt x="2944492" y="1488299"/>
                    </a:cubicBezTo>
                    <a:lnTo>
                      <a:pt x="158750" y="1488299"/>
                    </a:lnTo>
                    <a:cubicBezTo>
                      <a:pt x="78740" y="1488299"/>
                      <a:pt x="12700" y="1423529"/>
                      <a:pt x="12700" y="1342249"/>
                    </a:cubicBezTo>
                    <a:close/>
                  </a:path>
                </a:pathLst>
              </a:custGeom>
              <a:solidFill>
                <a:srgbClr val="000000"/>
              </a:solidFill>
            </p:spPr>
          </p:sp>
        </p:grpSp>
        <p:sp>
          <p:nvSpPr>
            <p:cNvPr name="TextBox 14" id="14"/>
            <p:cNvSpPr txBox="true"/>
            <p:nvPr/>
          </p:nvSpPr>
          <p:spPr>
            <a:xfrm rot="0">
              <a:off x="975236" y="2325778"/>
              <a:ext cx="10886188" cy="2744470"/>
            </a:xfrm>
            <a:prstGeom prst="rect">
              <a:avLst/>
            </a:prstGeom>
          </p:spPr>
          <p:txBody>
            <a:bodyPr anchor="t" rtlCol="false" tIns="0" lIns="0" bIns="0" rIns="0">
              <a:spAutoFit/>
            </a:bodyPr>
            <a:lstStyle/>
            <a:p>
              <a:pPr algn="l" marL="388623" indent="-194312" lvl="1">
                <a:lnSpc>
                  <a:spcPts val="2340"/>
                </a:lnSpc>
                <a:buFont typeface="Arial"/>
                <a:buChar char="•"/>
              </a:pPr>
              <a:r>
                <a:rPr lang="en-US" sz="1800">
                  <a:solidFill>
                    <a:srgbClr val="E30408"/>
                  </a:solidFill>
                  <a:latin typeface="Alkalami"/>
                  <a:ea typeface="Alkalami"/>
                  <a:cs typeface="Alkalami"/>
                  <a:sym typeface="Alkalami"/>
                </a:rPr>
                <a:t>This</a:t>
              </a:r>
              <a:r>
                <a:rPr lang="en-US" sz="1800">
                  <a:solidFill>
                    <a:srgbClr val="E30408"/>
                  </a:solidFill>
                  <a:latin typeface="Alkalami"/>
                  <a:ea typeface="Alkalami"/>
                  <a:cs typeface="Alkalami"/>
                  <a:sym typeface="Alkalami"/>
                </a:rPr>
                <a:t> ambition is realized through Oracle Cloud Infrastructure, or OCI. OCI provides a high-performance, securecloud platform supporting everything from small startups to the world’s largest companies. A perfect illustration isZoom, which uses OCI to power millions of meetings globally. Oracle fuels this possibility through massivecommitment, investing over $7 billion yearly in research and development for future technologies like AI,Blockchain, and IoT integration.</a:t>
              </a:r>
            </a:p>
          </p:txBody>
        </p:sp>
        <p:sp>
          <p:nvSpPr>
            <p:cNvPr name="TextBox 15" id="15"/>
            <p:cNvSpPr txBox="true"/>
            <p:nvPr/>
          </p:nvSpPr>
          <p:spPr>
            <a:xfrm rot="0">
              <a:off x="975236" y="1058839"/>
              <a:ext cx="10886188" cy="666749"/>
            </a:xfrm>
            <a:prstGeom prst="rect">
              <a:avLst/>
            </a:prstGeom>
          </p:spPr>
          <p:txBody>
            <a:bodyPr anchor="t" rtlCol="false" tIns="0" lIns="0" bIns="0" rIns="0">
              <a:spAutoFit/>
            </a:bodyPr>
            <a:lstStyle/>
            <a:p>
              <a:pPr algn="l">
                <a:lnSpc>
                  <a:spcPts val="4200"/>
                </a:lnSpc>
              </a:pPr>
              <a:r>
                <a:rPr lang="en-US" sz="3000">
                  <a:solidFill>
                    <a:srgbClr val="E30408"/>
                  </a:solidFill>
                  <a:latin typeface="Alkalami"/>
                  <a:ea typeface="Alkalami"/>
                  <a:cs typeface="Alkalami"/>
                  <a:sym typeface="Alkalami"/>
                </a:rPr>
                <a:t>And the ex</a:t>
              </a:r>
              <a:r>
                <a:rPr lang="en-US" sz="3000">
                  <a:solidFill>
                    <a:srgbClr val="E30408"/>
                  </a:solidFill>
                  <a:latin typeface="Alkalami"/>
                  <a:ea typeface="Alkalami"/>
                  <a:cs typeface="Alkalami"/>
                  <a:sym typeface="Alkalami"/>
                </a:rPr>
                <a:t>ample of it is </a:t>
              </a:r>
            </a:p>
          </p:txBody>
        </p:sp>
      </p:grpSp>
      <p:sp>
        <p:nvSpPr>
          <p:cNvPr name="TextBox 16" id="16"/>
          <p:cNvSpPr txBox="true"/>
          <p:nvPr/>
        </p:nvSpPr>
        <p:spPr>
          <a:xfrm rot="0">
            <a:off x="1028700" y="8918576"/>
            <a:ext cx="4430930" cy="339724"/>
          </a:xfrm>
          <a:prstGeom prst="rect">
            <a:avLst/>
          </a:prstGeom>
        </p:spPr>
        <p:txBody>
          <a:bodyPr anchor="t" rtlCol="false" tIns="0" lIns="0" bIns="0" rIns="0">
            <a:spAutoFit/>
          </a:bodyPr>
          <a:lstStyle/>
          <a:p>
            <a:pPr algn="l">
              <a:lnSpc>
                <a:spcPts val="2800"/>
              </a:lnSpc>
            </a:pPr>
            <a:r>
              <a:rPr lang="en-US" sz="2000">
                <a:solidFill>
                  <a:srgbClr val="FFF6EC"/>
                </a:solidFill>
                <a:latin typeface="Alkalami"/>
                <a:ea typeface="Alkalami"/>
                <a:cs typeface="Alkalami"/>
                <a:sym typeface="Alkalami"/>
              </a:rPr>
              <a:t>Back to Agenda Page</a:t>
            </a:r>
          </a:p>
        </p:txBody>
      </p:sp>
      <p:sp>
        <p:nvSpPr>
          <p:cNvPr name="Freeform 17" id="17"/>
          <p:cNvSpPr/>
          <p:nvPr/>
        </p:nvSpPr>
        <p:spPr>
          <a:xfrm flipH="false" flipV="false" rot="0">
            <a:off x="302083" y="916000"/>
            <a:ext cx="1810162" cy="821523"/>
          </a:xfrm>
          <a:custGeom>
            <a:avLst/>
            <a:gdLst/>
            <a:ahLst/>
            <a:cxnLst/>
            <a:rect r="r" b="b" t="t" l="l"/>
            <a:pathLst>
              <a:path h="821523" w="1810162">
                <a:moveTo>
                  <a:pt x="0" y="0"/>
                </a:moveTo>
                <a:lnTo>
                  <a:pt x="1810162" y="0"/>
                </a:lnTo>
                <a:lnTo>
                  <a:pt x="1810162" y="821523"/>
                </a:lnTo>
                <a:lnTo>
                  <a:pt x="0" y="821523"/>
                </a:lnTo>
                <a:lnTo>
                  <a:pt x="0" y="0"/>
                </a:lnTo>
                <a:close/>
              </a:path>
            </a:pathLst>
          </a:custGeom>
          <a:blipFill>
            <a:blip r:embed="rId4"/>
            <a:stretch>
              <a:fillRect l="0" t="0" r="0" b="-23942"/>
            </a:stretch>
          </a:blipFill>
        </p:spPr>
      </p:sp>
      <p:sp>
        <p:nvSpPr>
          <p:cNvPr name="Freeform 18" id="18"/>
          <p:cNvSpPr/>
          <p:nvPr/>
        </p:nvSpPr>
        <p:spPr>
          <a:xfrm flipH="false" flipV="false" rot="0">
            <a:off x="1436749" y="1109262"/>
            <a:ext cx="3891462" cy="434999"/>
          </a:xfrm>
          <a:custGeom>
            <a:avLst/>
            <a:gdLst/>
            <a:ahLst/>
            <a:cxnLst/>
            <a:rect r="r" b="b" t="t" l="l"/>
            <a:pathLst>
              <a:path h="434999" w="3891462">
                <a:moveTo>
                  <a:pt x="0" y="0"/>
                </a:moveTo>
                <a:lnTo>
                  <a:pt x="3891461" y="0"/>
                </a:lnTo>
                <a:lnTo>
                  <a:pt x="3891461" y="434999"/>
                </a:lnTo>
                <a:lnTo>
                  <a:pt x="0" y="434999"/>
                </a:lnTo>
                <a:lnTo>
                  <a:pt x="0" y="0"/>
                </a:lnTo>
                <a:close/>
              </a:path>
            </a:pathLst>
          </a:custGeom>
          <a:blipFill>
            <a:blip r:embed="rId5"/>
            <a:stretch>
              <a:fillRect l="0" t="-403207"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A4E473"/>
        </a:solidFill>
      </p:bgPr>
    </p:bg>
    <p:spTree>
      <p:nvGrpSpPr>
        <p:cNvPr id="1" name=""/>
        <p:cNvGrpSpPr/>
        <p:nvPr/>
      </p:nvGrpSpPr>
      <p:grpSpPr>
        <a:xfrm>
          <a:off x="0" y="0"/>
          <a:ext cx="0" cy="0"/>
          <a:chOff x="0" y="0"/>
          <a:chExt cx="0" cy="0"/>
        </a:xfrm>
      </p:grpSpPr>
      <p:sp>
        <p:nvSpPr>
          <p:cNvPr name="Freeform 2" id="2"/>
          <p:cNvSpPr/>
          <p:nvPr/>
        </p:nvSpPr>
        <p:spPr>
          <a:xfrm flipH="false" flipV="false" rot="-681878">
            <a:off x="-1491676" y="7527216"/>
            <a:ext cx="7066098" cy="7947553"/>
          </a:xfrm>
          <a:custGeom>
            <a:avLst/>
            <a:gdLst/>
            <a:ahLst/>
            <a:cxnLst/>
            <a:rect r="r" b="b" t="t" l="l"/>
            <a:pathLst>
              <a:path h="7947553" w="7066098">
                <a:moveTo>
                  <a:pt x="0" y="0"/>
                </a:moveTo>
                <a:lnTo>
                  <a:pt x="7066097" y="0"/>
                </a:lnTo>
                <a:lnTo>
                  <a:pt x="7066097" y="7947553"/>
                </a:lnTo>
                <a:lnTo>
                  <a:pt x="0" y="7947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1179">
            <a:off x="14651654" y="-1953840"/>
            <a:ext cx="6632262" cy="7459599"/>
          </a:xfrm>
          <a:custGeom>
            <a:avLst/>
            <a:gdLst/>
            <a:ahLst/>
            <a:cxnLst/>
            <a:rect r="r" b="b" t="t" l="l"/>
            <a:pathLst>
              <a:path h="7459599" w="6632262">
                <a:moveTo>
                  <a:pt x="0" y="0"/>
                </a:moveTo>
                <a:lnTo>
                  <a:pt x="6632262" y="0"/>
                </a:lnTo>
                <a:lnTo>
                  <a:pt x="6632262" y="7459599"/>
                </a:lnTo>
                <a:lnTo>
                  <a:pt x="0" y="74595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4" id="4"/>
          <p:cNvGraphicFramePr>
            <a:graphicFrameLocks noGrp="true"/>
          </p:cNvGraphicFramePr>
          <p:nvPr/>
        </p:nvGraphicFramePr>
        <p:xfrm>
          <a:off x="1496040" y="100013"/>
          <a:ext cx="15295921" cy="10086975"/>
        </p:xfrm>
        <a:graphic>
          <a:graphicData uri="http://schemas.openxmlformats.org/drawingml/2006/table">
            <a:tbl>
              <a:tblPr/>
              <a:tblGrid>
                <a:gridCol w="4127576"/>
                <a:gridCol w="5087705"/>
                <a:gridCol w="6080640"/>
              </a:tblGrid>
              <a:tr h="784011">
                <a:tc>
                  <a:txBody>
                    <a:bodyPr anchor="t" rtlCol="false"/>
                    <a:lstStyle/>
                    <a:p>
                      <a:pPr algn="ctr">
                        <a:lnSpc>
                          <a:spcPts val="2800"/>
                        </a:lnSpc>
                        <a:defRPr/>
                      </a:pPr>
                      <a:r>
                        <a:rPr lang="en-US" sz="2000">
                          <a:solidFill>
                            <a:srgbClr val="E30408"/>
                          </a:solidFill>
                          <a:latin typeface="Alkalami"/>
                          <a:ea typeface="Alkalami"/>
                          <a:cs typeface="Alkalami"/>
                          <a:sym typeface="Alkalami"/>
                        </a:rPr>
                        <a:t>Feature</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c>
                  <a:txBody>
                    <a:bodyPr anchor="t" rtlCol="false"/>
                    <a:lstStyle/>
                    <a:p>
                      <a:pPr algn="ctr">
                        <a:lnSpc>
                          <a:spcPts val="2800"/>
                        </a:lnSpc>
                        <a:defRPr/>
                      </a:pPr>
                      <a:r>
                        <a:rPr lang="en-US" sz="2000">
                          <a:solidFill>
                            <a:srgbClr val="E30408"/>
                          </a:solidFill>
                          <a:latin typeface="Alkalami"/>
                          <a:ea typeface="Alkalami"/>
                          <a:cs typeface="Alkalami"/>
                          <a:sym typeface="Alkalami"/>
                        </a:rPr>
                        <a:t>Vision</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c>
                  <a:txBody>
                    <a:bodyPr anchor="t" rtlCol="false"/>
                    <a:lstStyle/>
                    <a:p>
                      <a:pPr algn="ctr">
                        <a:lnSpc>
                          <a:spcPts val="2800"/>
                        </a:lnSpc>
                        <a:defRPr/>
                      </a:pPr>
                      <a:r>
                        <a:rPr lang="en-US" sz="2000">
                          <a:solidFill>
                            <a:srgbClr val="E30408"/>
                          </a:solidFill>
                          <a:latin typeface="Alkalami"/>
                          <a:ea typeface="Alkalami"/>
                          <a:cs typeface="Alkalami"/>
                          <a:sym typeface="Alkalami"/>
                        </a:rPr>
                        <a:t>Mission</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r>
              <a:tr h="1405484">
                <a:tc>
                  <a:txBody>
                    <a:bodyPr anchor="t" rtlCol="false"/>
                    <a:lstStyle/>
                    <a:p>
                      <a:pPr algn="ctr">
                        <a:lnSpc>
                          <a:spcPts val="3500"/>
                        </a:lnSpc>
                        <a:defRPr/>
                      </a:pPr>
                      <a:r>
                        <a:rPr lang="en-US" sz="2500">
                          <a:solidFill>
                            <a:srgbClr val="E30408"/>
                          </a:solidFill>
                          <a:latin typeface="Alkalami"/>
                          <a:ea typeface="Alkalami"/>
                          <a:cs typeface="Alkalami"/>
                          <a:sym typeface="Alkalami"/>
                        </a:rPr>
                        <a:t>Focus</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Future oriented (what we want to become)</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Present-oriented (Why we exist and what we do).</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05484">
                <a:tc>
                  <a:txBody>
                    <a:bodyPr anchor="t" rtlCol="false"/>
                    <a:lstStyle/>
                    <a:p>
                      <a:pPr algn="ctr">
                        <a:lnSpc>
                          <a:spcPts val="3500"/>
                        </a:lnSpc>
                        <a:defRPr/>
                      </a:pPr>
                      <a:r>
                        <a:rPr lang="en-US" sz="2500">
                          <a:solidFill>
                            <a:srgbClr val="E30408"/>
                          </a:solidFill>
                          <a:latin typeface="Alkalami"/>
                          <a:ea typeface="Alkalami"/>
                          <a:cs typeface="Alkalami"/>
                          <a:sym typeface="Alkalami"/>
                        </a:rPr>
                        <a:t>Answers the Question</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What will we achieve?" or "Where are we going?"</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What do we do?" or "Why do we exist?"</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05484">
                <a:tc>
                  <a:txBody>
                    <a:bodyPr anchor="t" rtlCol="false"/>
                    <a:lstStyle/>
                    <a:p>
                      <a:pPr algn="ctr">
                        <a:lnSpc>
                          <a:spcPts val="3500"/>
                        </a:lnSpc>
                        <a:defRPr/>
                      </a:pPr>
                      <a:r>
                        <a:rPr lang="en-US" sz="2500">
                          <a:solidFill>
                            <a:srgbClr val="E30408"/>
                          </a:solidFill>
                          <a:latin typeface="Alkalami"/>
                          <a:ea typeface="Alkalami"/>
                          <a:cs typeface="Alkalami"/>
                          <a:sym typeface="Alkalami"/>
                        </a:rPr>
                        <a:t>Time Horizon</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499"/>
                        </a:lnSpc>
                        <a:defRPr/>
                      </a:pPr>
                      <a:r>
                        <a:rPr lang="en-US" sz="2499">
                          <a:solidFill>
                            <a:srgbClr val="E30408"/>
                          </a:solidFill>
                          <a:latin typeface="Alkalami"/>
                          <a:ea typeface="Alkalami"/>
                          <a:cs typeface="Alkalami"/>
                          <a:sym typeface="Alkalami"/>
                        </a:rPr>
                        <a:t>Long-term (aspirational, 5-10 years or more).</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Short- to mid-term (operational, day-to-day activities).</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395923">
                <a:tc>
                  <a:txBody>
                    <a:bodyPr anchor="t" rtlCol="false"/>
                    <a:lstStyle/>
                    <a:p>
                      <a:pPr algn="ctr">
                        <a:lnSpc>
                          <a:spcPts val="3500"/>
                        </a:lnSpc>
                        <a:defRPr/>
                      </a:pPr>
                      <a:r>
                        <a:rPr lang="en-US" sz="2500">
                          <a:solidFill>
                            <a:srgbClr val="E30408"/>
                          </a:solidFill>
                          <a:latin typeface="Alkalami"/>
                          <a:ea typeface="Alkalami"/>
                          <a:cs typeface="Alkalami"/>
                          <a:sym typeface="Alkalami"/>
                        </a:rPr>
                        <a:t>Nature</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499"/>
                        </a:lnSpc>
                        <a:defRPr/>
                      </a:pPr>
                      <a:r>
                        <a:rPr lang="en-US" sz="2499">
                          <a:solidFill>
                            <a:srgbClr val="E30408"/>
                          </a:solidFill>
                          <a:latin typeface="Alkalami"/>
                          <a:ea typeface="Alkalami"/>
                          <a:cs typeface="Alkalami"/>
                          <a:sym typeface="Alkalami"/>
                        </a:rPr>
                        <a:t>Inspirational, idealistic, and often short.</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499"/>
                        </a:lnSpc>
                        <a:defRPr/>
                      </a:pPr>
                      <a:r>
                        <a:rPr lang="en-US" sz="2499">
                          <a:solidFill>
                            <a:srgbClr val="E30408"/>
                          </a:solidFill>
                          <a:latin typeface="Alkalami"/>
                          <a:ea typeface="Alkalami"/>
                          <a:cs typeface="Alkalami"/>
                          <a:sym typeface="Alkalami"/>
                        </a:rPr>
                        <a:t>Practical, descriptive, and more detailed.</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405484">
                <a:tc>
                  <a:txBody>
                    <a:bodyPr anchor="t" rtlCol="false"/>
                    <a:lstStyle/>
                    <a:p>
                      <a:pPr algn="ctr">
                        <a:lnSpc>
                          <a:spcPts val="3500"/>
                        </a:lnSpc>
                        <a:defRPr/>
                      </a:pPr>
                      <a:r>
                        <a:rPr lang="en-US" sz="2500">
                          <a:solidFill>
                            <a:srgbClr val="E30408"/>
                          </a:solidFill>
                          <a:latin typeface="Alkalami"/>
                          <a:ea typeface="Alkalami"/>
                          <a:cs typeface="Alkalami"/>
                          <a:sym typeface="Alkalami"/>
                        </a:rPr>
                        <a:t>Nature</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Provides the ultimate destination and inspiration.</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499"/>
                        </a:lnSpc>
                        <a:defRPr/>
                      </a:pPr>
                      <a:r>
                        <a:rPr lang="en-US" sz="2499">
                          <a:solidFill>
                            <a:srgbClr val="E30408"/>
                          </a:solidFill>
                          <a:latin typeface="Alkalami"/>
                          <a:ea typeface="Alkalami"/>
                          <a:cs typeface="Alkalami"/>
                          <a:sym typeface="Alkalami"/>
                        </a:rPr>
                        <a:t>Provides the path and guiding principles to reach the vision.</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2285106">
                <a:tc>
                  <a:txBody>
                    <a:bodyPr anchor="t" rtlCol="false"/>
                    <a:lstStyle/>
                    <a:p>
                      <a:pPr algn="ctr">
                        <a:lnSpc>
                          <a:spcPts val="3500"/>
                        </a:lnSpc>
                        <a:defRPr/>
                      </a:pPr>
                      <a:r>
                        <a:rPr lang="en-US" sz="2500">
                          <a:solidFill>
                            <a:srgbClr val="E30408"/>
                          </a:solidFill>
                          <a:latin typeface="Alkalami"/>
                          <a:ea typeface="Alkalami"/>
                          <a:cs typeface="Alkalami"/>
                          <a:sym typeface="Alkalami"/>
                        </a:rPr>
                        <a:t>Example </a:t>
                      </a:r>
                      <a:endParaRPr lang="en-US" sz="1100"/>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(vision ultimate goal)</a:t>
                      </a:r>
                      <a:endParaRPr lang="en-US" sz="1100"/>
                    </a:p>
                    <a:p>
                      <a:pPr algn="ctr">
                        <a:lnSpc>
                          <a:spcPts val="3500"/>
                        </a:lnSpc>
                      </a:pPr>
                      <a:r>
                        <a:rPr lang="en-US" sz="2500">
                          <a:solidFill>
                            <a:srgbClr val="E30408"/>
                          </a:solidFill>
                          <a:latin typeface="Alkalami"/>
                          <a:ea typeface="Alkalami"/>
                          <a:cs typeface="Alkalami"/>
                          <a:sym typeface="Alkalami"/>
                        </a:rPr>
                        <a:t>To be the world’s leading provider of intelligent and secure cloud infrastructure and software.</a:t>
                      </a:r>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500"/>
                        </a:lnSpc>
                        <a:defRPr/>
                      </a:pPr>
                      <a:r>
                        <a:rPr lang="en-US" sz="2500">
                          <a:solidFill>
                            <a:srgbClr val="E30408"/>
                          </a:solidFill>
                          <a:latin typeface="Alkalami"/>
                          <a:ea typeface="Alkalami"/>
                          <a:cs typeface="Alkalami"/>
                          <a:sym typeface="Alkalami"/>
                        </a:rPr>
                        <a:t>(mission…current purpose)</a:t>
                      </a:r>
                      <a:endParaRPr lang="en-US" sz="1100"/>
                    </a:p>
                    <a:p>
                      <a:pPr algn="ctr">
                        <a:lnSpc>
                          <a:spcPts val="3500"/>
                        </a:lnSpc>
                      </a:pPr>
                      <a:r>
                        <a:rPr lang="en-US" sz="2500">
                          <a:solidFill>
                            <a:srgbClr val="E30408"/>
                          </a:solidFill>
                          <a:latin typeface="Alkalami"/>
                          <a:ea typeface="Alkalami"/>
                          <a:cs typeface="Alkalami"/>
                          <a:sym typeface="Alkalami"/>
                        </a:rPr>
                        <a:t>To help people see data in new ways, discover insights, and unlock endless possibilities</a:t>
                      </a:r>
                    </a:p>
                  </a:txBody>
                  <a:tcPr marL="0" marR="0" marT="0" marB="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6EC"/>
        </a:solidFill>
      </p:bgPr>
    </p:bg>
    <p:spTree>
      <p:nvGrpSpPr>
        <p:cNvPr id="1" name=""/>
        <p:cNvGrpSpPr/>
        <p:nvPr/>
      </p:nvGrpSpPr>
      <p:grpSpPr>
        <a:xfrm>
          <a:off x="0" y="0"/>
          <a:ext cx="0" cy="0"/>
          <a:chOff x="0" y="0"/>
          <a:chExt cx="0" cy="0"/>
        </a:xfrm>
      </p:grpSpPr>
      <p:sp>
        <p:nvSpPr>
          <p:cNvPr name="Freeform 2" id="2"/>
          <p:cNvSpPr/>
          <p:nvPr/>
        </p:nvSpPr>
        <p:spPr>
          <a:xfrm flipH="false" flipV="false" rot="-751179">
            <a:off x="13627816" y="-2880169"/>
            <a:ext cx="6632262" cy="7459599"/>
          </a:xfrm>
          <a:custGeom>
            <a:avLst/>
            <a:gdLst/>
            <a:ahLst/>
            <a:cxnLst/>
            <a:rect r="r" b="b" t="t" l="l"/>
            <a:pathLst>
              <a:path h="7459599" w="6632262">
                <a:moveTo>
                  <a:pt x="0" y="0"/>
                </a:moveTo>
                <a:lnTo>
                  <a:pt x="6632262" y="0"/>
                </a:lnTo>
                <a:lnTo>
                  <a:pt x="6632262" y="7459598"/>
                </a:lnTo>
                <a:lnTo>
                  <a:pt x="0" y="74595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8215795" y="2030163"/>
            <a:ext cx="2648448" cy="2648448"/>
            <a:chOff x="0" y="0"/>
            <a:chExt cx="8909050" cy="8909050"/>
          </a:xfrm>
        </p:grpSpPr>
        <p:sp>
          <p:nvSpPr>
            <p:cNvPr name="Freeform 4" id="4"/>
            <p:cNvSpPr/>
            <p:nvPr/>
          </p:nvSpPr>
          <p:spPr>
            <a:xfrm flipH="false" flipV="false" rot="0">
              <a:off x="-10398" y="9480"/>
              <a:ext cx="8929847" cy="8890089"/>
            </a:xfrm>
            <a:custGeom>
              <a:avLst/>
              <a:gdLst/>
              <a:ahLst/>
              <a:cxnLst/>
              <a:rect r="r" b="b" t="t" l="l"/>
              <a:pathLst>
                <a:path h="8890089" w="8929847">
                  <a:moveTo>
                    <a:pt x="4464923" y="45"/>
                  </a:moveTo>
                  <a:cubicBezTo>
                    <a:pt x="2872142" y="-7078"/>
                    <a:pt x="1397294" y="838573"/>
                    <a:pt x="598840" y="2216787"/>
                  </a:cubicBezTo>
                  <a:cubicBezTo>
                    <a:pt x="-199614" y="3595001"/>
                    <a:pt x="-199614" y="5295089"/>
                    <a:pt x="598840" y="6673304"/>
                  </a:cubicBezTo>
                  <a:cubicBezTo>
                    <a:pt x="1397294" y="8051517"/>
                    <a:pt x="2872142" y="8897168"/>
                    <a:pt x="4464923" y="8890045"/>
                  </a:cubicBezTo>
                  <a:cubicBezTo>
                    <a:pt x="6057704" y="8897168"/>
                    <a:pt x="7532552" y="8051517"/>
                    <a:pt x="8331006" y="6673304"/>
                  </a:cubicBezTo>
                  <a:cubicBezTo>
                    <a:pt x="9129460" y="5295089"/>
                    <a:pt x="9129460" y="3595001"/>
                    <a:pt x="8331006" y="2216787"/>
                  </a:cubicBezTo>
                  <a:cubicBezTo>
                    <a:pt x="7532552" y="838573"/>
                    <a:pt x="6057704" y="-7078"/>
                    <a:pt x="4464923" y="45"/>
                  </a:cubicBezTo>
                  <a:close/>
                </a:path>
              </a:pathLst>
            </a:custGeom>
            <a:solidFill>
              <a:srgbClr val="000000"/>
            </a:solidFill>
          </p:spPr>
        </p:sp>
        <p:sp>
          <p:nvSpPr>
            <p:cNvPr name="Freeform 5" id="5"/>
            <p:cNvSpPr/>
            <p:nvPr/>
          </p:nvSpPr>
          <p:spPr>
            <a:xfrm flipH="false" flipV="false" rot="0">
              <a:off x="251757" y="270468"/>
              <a:ext cx="8405537" cy="8368114"/>
            </a:xfrm>
            <a:custGeom>
              <a:avLst/>
              <a:gdLst/>
              <a:ahLst/>
              <a:cxnLst/>
              <a:rect r="r" b="b" t="t" l="l"/>
              <a:pathLst>
                <a:path h="8368114" w="8405537">
                  <a:moveTo>
                    <a:pt x="4202768" y="42"/>
                  </a:moveTo>
                  <a:cubicBezTo>
                    <a:pt x="2703506" y="-6663"/>
                    <a:pt x="1315253" y="789336"/>
                    <a:pt x="563679" y="2086629"/>
                  </a:cubicBezTo>
                  <a:cubicBezTo>
                    <a:pt x="-187894" y="3383923"/>
                    <a:pt x="-187894" y="4984191"/>
                    <a:pt x="563679" y="6281485"/>
                  </a:cubicBezTo>
                  <a:cubicBezTo>
                    <a:pt x="1315253" y="7578778"/>
                    <a:pt x="2703506" y="8374777"/>
                    <a:pt x="4202768" y="8368072"/>
                  </a:cubicBezTo>
                  <a:cubicBezTo>
                    <a:pt x="5702030" y="8374777"/>
                    <a:pt x="7090283" y="7578778"/>
                    <a:pt x="7841857" y="6281485"/>
                  </a:cubicBezTo>
                  <a:cubicBezTo>
                    <a:pt x="8593429" y="4984191"/>
                    <a:pt x="8593429" y="3383923"/>
                    <a:pt x="7841857" y="2086629"/>
                  </a:cubicBezTo>
                  <a:cubicBezTo>
                    <a:pt x="7090283" y="789336"/>
                    <a:pt x="5702030" y="-6663"/>
                    <a:pt x="4202768" y="42"/>
                  </a:cubicBezTo>
                  <a:close/>
                </a:path>
              </a:pathLst>
            </a:custGeom>
            <a:blipFill>
              <a:blip r:embed="rId4"/>
              <a:stretch>
                <a:fillRect l="-1026" t="0" r="-1026" b="0"/>
              </a:stretch>
            </a:blipFill>
          </p:spPr>
        </p:sp>
        <p:sp>
          <p:nvSpPr>
            <p:cNvPr name="Freeform 6" id="6"/>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87EFB"/>
            </a:solidFill>
          </p:spPr>
        </p:sp>
      </p:grpSp>
      <p:grpSp>
        <p:nvGrpSpPr>
          <p:cNvPr name="Group 7" id="7"/>
          <p:cNvGrpSpPr>
            <a:grpSpLocks noChangeAspect="true"/>
          </p:cNvGrpSpPr>
          <p:nvPr/>
        </p:nvGrpSpPr>
        <p:grpSpPr>
          <a:xfrm rot="0">
            <a:off x="3709052" y="2559957"/>
            <a:ext cx="2648448" cy="2648448"/>
            <a:chOff x="0" y="0"/>
            <a:chExt cx="8909050" cy="8909050"/>
          </a:xfrm>
        </p:grpSpPr>
        <p:sp>
          <p:nvSpPr>
            <p:cNvPr name="Freeform 8" id="8"/>
            <p:cNvSpPr/>
            <p:nvPr/>
          </p:nvSpPr>
          <p:spPr>
            <a:xfrm flipH="false" flipV="false" rot="0">
              <a:off x="-10398" y="9480"/>
              <a:ext cx="8929847" cy="8890089"/>
            </a:xfrm>
            <a:custGeom>
              <a:avLst/>
              <a:gdLst/>
              <a:ahLst/>
              <a:cxnLst/>
              <a:rect r="r" b="b" t="t" l="l"/>
              <a:pathLst>
                <a:path h="8890089" w="8929847">
                  <a:moveTo>
                    <a:pt x="4464923" y="45"/>
                  </a:moveTo>
                  <a:cubicBezTo>
                    <a:pt x="2872142" y="-7078"/>
                    <a:pt x="1397294" y="838573"/>
                    <a:pt x="598840" y="2216787"/>
                  </a:cubicBezTo>
                  <a:cubicBezTo>
                    <a:pt x="-199614" y="3595001"/>
                    <a:pt x="-199614" y="5295089"/>
                    <a:pt x="598840" y="6673304"/>
                  </a:cubicBezTo>
                  <a:cubicBezTo>
                    <a:pt x="1397294" y="8051517"/>
                    <a:pt x="2872142" y="8897168"/>
                    <a:pt x="4464923" y="8890045"/>
                  </a:cubicBezTo>
                  <a:cubicBezTo>
                    <a:pt x="6057704" y="8897168"/>
                    <a:pt x="7532552" y="8051517"/>
                    <a:pt x="8331006" y="6673304"/>
                  </a:cubicBezTo>
                  <a:cubicBezTo>
                    <a:pt x="9129460" y="5295089"/>
                    <a:pt x="9129460" y="3595001"/>
                    <a:pt x="8331006" y="2216787"/>
                  </a:cubicBezTo>
                  <a:cubicBezTo>
                    <a:pt x="7532552" y="838573"/>
                    <a:pt x="6057704" y="-7078"/>
                    <a:pt x="4464923" y="45"/>
                  </a:cubicBezTo>
                  <a:close/>
                </a:path>
              </a:pathLst>
            </a:custGeom>
            <a:solidFill>
              <a:srgbClr val="000000"/>
            </a:solidFill>
          </p:spPr>
        </p:sp>
        <p:sp>
          <p:nvSpPr>
            <p:cNvPr name="Freeform 9" id="9"/>
            <p:cNvSpPr/>
            <p:nvPr/>
          </p:nvSpPr>
          <p:spPr>
            <a:xfrm flipH="false" flipV="false" rot="0">
              <a:off x="251757" y="270468"/>
              <a:ext cx="8405537" cy="8368114"/>
            </a:xfrm>
            <a:custGeom>
              <a:avLst/>
              <a:gdLst/>
              <a:ahLst/>
              <a:cxnLst/>
              <a:rect r="r" b="b" t="t" l="l"/>
              <a:pathLst>
                <a:path h="8368114" w="8405537">
                  <a:moveTo>
                    <a:pt x="4202768" y="42"/>
                  </a:moveTo>
                  <a:cubicBezTo>
                    <a:pt x="2703506" y="-6663"/>
                    <a:pt x="1315253" y="789336"/>
                    <a:pt x="563679" y="2086629"/>
                  </a:cubicBezTo>
                  <a:cubicBezTo>
                    <a:pt x="-187894" y="3383923"/>
                    <a:pt x="-187894" y="4984191"/>
                    <a:pt x="563679" y="6281485"/>
                  </a:cubicBezTo>
                  <a:cubicBezTo>
                    <a:pt x="1315253" y="7578778"/>
                    <a:pt x="2703506" y="8374777"/>
                    <a:pt x="4202768" y="8368072"/>
                  </a:cubicBezTo>
                  <a:cubicBezTo>
                    <a:pt x="5702030" y="8374777"/>
                    <a:pt x="7090283" y="7578778"/>
                    <a:pt x="7841857" y="6281485"/>
                  </a:cubicBezTo>
                  <a:cubicBezTo>
                    <a:pt x="8593429" y="4984191"/>
                    <a:pt x="8593429" y="3383923"/>
                    <a:pt x="7841857" y="2086629"/>
                  </a:cubicBezTo>
                  <a:cubicBezTo>
                    <a:pt x="7090283" y="789336"/>
                    <a:pt x="5702030" y="-6663"/>
                    <a:pt x="4202768" y="42"/>
                  </a:cubicBezTo>
                  <a:close/>
                </a:path>
              </a:pathLst>
            </a:custGeom>
            <a:blipFill>
              <a:blip r:embed="rId5"/>
              <a:stretch>
                <a:fillRect l="223" t="-11255" r="223" b="-11255"/>
              </a:stretch>
            </a:blipFill>
          </p:spPr>
        </p:sp>
        <p:sp>
          <p:nvSpPr>
            <p:cNvPr name="Freeform 10" id="10"/>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87EFB"/>
            </a:solidFill>
          </p:spPr>
        </p:sp>
      </p:grpSp>
      <p:grpSp>
        <p:nvGrpSpPr>
          <p:cNvPr name="Group 11" id="11"/>
          <p:cNvGrpSpPr>
            <a:grpSpLocks noChangeAspect="true"/>
          </p:cNvGrpSpPr>
          <p:nvPr/>
        </p:nvGrpSpPr>
        <p:grpSpPr>
          <a:xfrm rot="0">
            <a:off x="12898143" y="2458788"/>
            <a:ext cx="2648448" cy="2648448"/>
            <a:chOff x="0" y="0"/>
            <a:chExt cx="8909050" cy="8909050"/>
          </a:xfrm>
        </p:grpSpPr>
        <p:sp>
          <p:nvSpPr>
            <p:cNvPr name="Freeform 12" id="12"/>
            <p:cNvSpPr/>
            <p:nvPr/>
          </p:nvSpPr>
          <p:spPr>
            <a:xfrm flipH="false" flipV="false" rot="0">
              <a:off x="-10398" y="9480"/>
              <a:ext cx="8929847" cy="8890089"/>
            </a:xfrm>
            <a:custGeom>
              <a:avLst/>
              <a:gdLst/>
              <a:ahLst/>
              <a:cxnLst/>
              <a:rect r="r" b="b" t="t" l="l"/>
              <a:pathLst>
                <a:path h="8890089" w="8929847">
                  <a:moveTo>
                    <a:pt x="4464923" y="45"/>
                  </a:moveTo>
                  <a:cubicBezTo>
                    <a:pt x="2872142" y="-7078"/>
                    <a:pt x="1397294" y="838573"/>
                    <a:pt x="598840" y="2216787"/>
                  </a:cubicBezTo>
                  <a:cubicBezTo>
                    <a:pt x="-199614" y="3595001"/>
                    <a:pt x="-199614" y="5295089"/>
                    <a:pt x="598840" y="6673304"/>
                  </a:cubicBezTo>
                  <a:cubicBezTo>
                    <a:pt x="1397294" y="8051517"/>
                    <a:pt x="2872142" y="8897168"/>
                    <a:pt x="4464923" y="8890045"/>
                  </a:cubicBezTo>
                  <a:cubicBezTo>
                    <a:pt x="6057704" y="8897168"/>
                    <a:pt x="7532552" y="8051517"/>
                    <a:pt x="8331006" y="6673304"/>
                  </a:cubicBezTo>
                  <a:cubicBezTo>
                    <a:pt x="9129460" y="5295089"/>
                    <a:pt x="9129460" y="3595001"/>
                    <a:pt x="8331006" y="2216787"/>
                  </a:cubicBezTo>
                  <a:cubicBezTo>
                    <a:pt x="7532552" y="838573"/>
                    <a:pt x="6057704" y="-7078"/>
                    <a:pt x="4464923" y="45"/>
                  </a:cubicBezTo>
                  <a:close/>
                </a:path>
              </a:pathLst>
            </a:custGeom>
            <a:solidFill>
              <a:srgbClr val="000000"/>
            </a:solidFill>
          </p:spPr>
        </p:sp>
        <p:sp>
          <p:nvSpPr>
            <p:cNvPr name="Freeform 13" id="13"/>
            <p:cNvSpPr/>
            <p:nvPr/>
          </p:nvSpPr>
          <p:spPr>
            <a:xfrm flipH="false" flipV="false" rot="0">
              <a:off x="251757" y="270468"/>
              <a:ext cx="8405537" cy="8368114"/>
            </a:xfrm>
            <a:custGeom>
              <a:avLst/>
              <a:gdLst/>
              <a:ahLst/>
              <a:cxnLst/>
              <a:rect r="r" b="b" t="t" l="l"/>
              <a:pathLst>
                <a:path h="8368114" w="8405537">
                  <a:moveTo>
                    <a:pt x="4202768" y="42"/>
                  </a:moveTo>
                  <a:cubicBezTo>
                    <a:pt x="2703506" y="-6663"/>
                    <a:pt x="1315253" y="789336"/>
                    <a:pt x="563679" y="2086629"/>
                  </a:cubicBezTo>
                  <a:cubicBezTo>
                    <a:pt x="-187894" y="3383923"/>
                    <a:pt x="-187894" y="4984191"/>
                    <a:pt x="563679" y="6281485"/>
                  </a:cubicBezTo>
                  <a:cubicBezTo>
                    <a:pt x="1315253" y="7578778"/>
                    <a:pt x="2703506" y="8374777"/>
                    <a:pt x="4202768" y="8368072"/>
                  </a:cubicBezTo>
                  <a:cubicBezTo>
                    <a:pt x="5702030" y="8374777"/>
                    <a:pt x="7090283" y="7578778"/>
                    <a:pt x="7841857" y="6281485"/>
                  </a:cubicBezTo>
                  <a:cubicBezTo>
                    <a:pt x="8593429" y="4984191"/>
                    <a:pt x="8593429" y="3383923"/>
                    <a:pt x="7841857" y="2086629"/>
                  </a:cubicBezTo>
                  <a:cubicBezTo>
                    <a:pt x="7090283" y="789336"/>
                    <a:pt x="5702030" y="-6663"/>
                    <a:pt x="4202768" y="42"/>
                  </a:cubicBezTo>
                  <a:close/>
                </a:path>
              </a:pathLst>
            </a:custGeom>
            <a:blipFill>
              <a:blip r:embed="rId6"/>
              <a:stretch>
                <a:fillRect l="223" t="-12499" r="223" b="-12499"/>
              </a:stretch>
            </a:blipFill>
          </p:spPr>
        </p:sp>
        <p:sp>
          <p:nvSpPr>
            <p:cNvPr name="Freeform 14" id="14"/>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87EFB"/>
            </a:solidFill>
          </p:spPr>
        </p:sp>
      </p:grpSp>
      <p:grpSp>
        <p:nvGrpSpPr>
          <p:cNvPr name="Group 15" id="15"/>
          <p:cNvGrpSpPr>
            <a:grpSpLocks noChangeAspect="true"/>
          </p:cNvGrpSpPr>
          <p:nvPr/>
        </p:nvGrpSpPr>
        <p:grpSpPr>
          <a:xfrm rot="0">
            <a:off x="3916085" y="6520898"/>
            <a:ext cx="2265809" cy="2265809"/>
            <a:chOff x="0" y="0"/>
            <a:chExt cx="8909050" cy="8909050"/>
          </a:xfrm>
        </p:grpSpPr>
        <p:sp>
          <p:nvSpPr>
            <p:cNvPr name="Freeform 16" id="16"/>
            <p:cNvSpPr/>
            <p:nvPr/>
          </p:nvSpPr>
          <p:spPr>
            <a:xfrm flipH="false" flipV="false" rot="0">
              <a:off x="-10398" y="9480"/>
              <a:ext cx="8929847" cy="8890089"/>
            </a:xfrm>
            <a:custGeom>
              <a:avLst/>
              <a:gdLst/>
              <a:ahLst/>
              <a:cxnLst/>
              <a:rect r="r" b="b" t="t" l="l"/>
              <a:pathLst>
                <a:path h="8890089" w="8929847">
                  <a:moveTo>
                    <a:pt x="4464923" y="45"/>
                  </a:moveTo>
                  <a:cubicBezTo>
                    <a:pt x="2872142" y="-7078"/>
                    <a:pt x="1397294" y="838573"/>
                    <a:pt x="598840" y="2216787"/>
                  </a:cubicBezTo>
                  <a:cubicBezTo>
                    <a:pt x="-199614" y="3595001"/>
                    <a:pt x="-199614" y="5295089"/>
                    <a:pt x="598840" y="6673304"/>
                  </a:cubicBezTo>
                  <a:cubicBezTo>
                    <a:pt x="1397294" y="8051517"/>
                    <a:pt x="2872142" y="8897168"/>
                    <a:pt x="4464923" y="8890045"/>
                  </a:cubicBezTo>
                  <a:cubicBezTo>
                    <a:pt x="6057704" y="8897168"/>
                    <a:pt x="7532552" y="8051517"/>
                    <a:pt x="8331006" y="6673304"/>
                  </a:cubicBezTo>
                  <a:cubicBezTo>
                    <a:pt x="9129460" y="5295089"/>
                    <a:pt x="9129460" y="3595001"/>
                    <a:pt x="8331006" y="2216787"/>
                  </a:cubicBezTo>
                  <a:cubicBezTo>
                    <a:pt x="7532552" y="838573"/>
                    <a:pt x="6057704" y="-7078"/>
                    <a:pt x="4464923" y="45"/>
                  </a:cubicBezTo>
                  <a:close/>
                </a:path>
              </a:pathLst>
            </a:custGeom>
            <a:solidFill>
              <a:srgbClr val="000000"/>
            </a:solidFill>
          </p:spPr>
        </p:sp>
        <p:sp>
          <p:nvSpPr>
            <p:cNvPr name="Freeform 17" id="17"/>
            <p:cNvSpPr/>
            <p:nvPr/>
          </p:nvSpPr>
          <p:spPr>
            <a:xfrm flipH="false" flipV="false" rot="0">
              <a:off x="251757" y="270468"/>
              <a:ext cx="8405537" cy="8368114"/>
            </a:xfrm>
            <a:custGeom>
              <a:avLst/>
              <a:gdLst/>
              <a:ahLst/>
              <a:cxnLst/>
              <a:rect r="r" b="b" t="t" l="l"/>
              <a:pathLst>
                <a:path h="8368114" w="8405537">
                  <a:moveTo>
                    <a:pt x="4202768" y="42"/>
                  </a:moveTo>
                  <a:cubicBezTo>
                    <a:pt x="2703506" y="-6663"/>
                    <a:pt x="1315253" y="789336"/>
                    <a:pt x="563679" y="2086629"/>
                  </a:cubicBezTo>
                  <a:cubicBezTo>
                    <a:pt x="-187894" y="3383923"/>
                    <a:pt x="-187894" y="4984191"/>
                    <a:pt x="563679" y="6281485"/>
                  </a:cubicBezTo>
                  <a:cubicBezTo>
                    <a:pt x="1315253" y="7578778"/>
                    <a:pt x="2703506" y="8374777"/>
                    <a:pt x="4202768" y="8368072"/>
                  </a:cubicBezTo>
                  <a:cubicBezTo>
                    <a:pt x="5702030" y="8374777"/>
                    <a:pt x="7090283" y="7578778"/>
                    <a:pt x="7841857" y="6281485"/>
                  </a:cubicBezTo>
                  <a:cubicBezTo>
                    <a:pt x="8593429" y="4984191"/>
                    <a:pt x="8593429" y="3383923"/>
                    <a:pt x="7841857" y="2086629"/>
                  </a:cubicBezTo>
                  <a:cubicBezTo>
                    <a:pt x="7090283" y="789336"/>
                    <a:pt x="5702030" y="-6663"/>
                    <a:pt x="4202768" y="42"/>
                  </a:cubicBezTo>
                  <a:close/>
                </a:path>
              </a:pathLst>
            </a:custGeom>
            <a:blipFill>
              <a:blip r:embed="rId7"/>
              <a:stretch>
                <a:fillRect l="223" t="-5477" r="223" b="-5477"/>
              </a:stretch>
            </a:blipFill>
          </p:spPr>
        </p:sp>
        <p:sp>
          <p:nvSpPr>
            <p:cNvPr name="Freeform 18" id="18"/>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87EFB"/>
            </a:solidFill>
          </p:spPr>
        </p:sp>
      </p:grpSp>
      <p:grpSp>
        <p:nvGrpSpPr>
          <p:cNvPr name="Group 19" id="19"/>
          <p:cNvGrpSpPr>
            <a:grpSpLocks noChangeAspect="true"/>
          </p:cNvGrpSpPr>
          <p:nvPr/>
        </p:nvGrpSpPr>
        <p:grpSpPr>
          <a:xfrm rot="0">
            <a:off x="13131192" y="6578113"/>
            <a:ext cx="2341273" cy="2341273"/>
            <a:chOff x="0" y="0"/>
            <a:chExt cx="8909050" cy="8909050"/>
          </a:xfrm>
        </p:grpSpPr>
        <p:sp>
          <p:nvSpPr>
            <p:cNvPr name="Freeform 20" id="20"/>
            <p:cNvSpPr/>
            <p:nvPr/>
          </p:nvSpPr>
          <p:spPr>
            <a:xfrm flipH="false" flipV="false" rot="0">
              <a:off x="-10398" y="9480"/>
              <a:ext cx="8929847" cy="8890089"/>
            </a:xfrm>
            <a:custGeom>
              <a:avLst/>
              <a:gdLst/>
              <a:ahLst/>
              <a:cxnLst/>
              <a:rect r="r" b="b" t="t" l="l"/>
              <a:pathLst>
                <a:path h="8890089" w="8929847">
                  <a:moveTo>
                    <a:pt x="4464923" y="45"/>
                  </a:moveTo>
                  <a:cubicBezTo>
                    <a:pt x="2872142" y="-7078"/>
                    <a:pt x="1397294" y="838573"/>
                    <a:pt x="598840" y="2216787"/>
                  </a:cubicBezTo>
                  <a:cubicBezTo>
                    <a:pt x="-199614" y="3595001"/>
                    <a:pt x="-199614" y="5295089"/>
                    <a:pt x="598840" y="6673304"/>
                  </a:cubicBezTo>
                  <a:cubicBezTo>
                    <a:pt x="1397294" y="8051517"/>
                    <a:pt x="2872142" y="8897168"/>
                    <a:pt x="4464923" y="8890045"/>
                  </a:cubicBezTo>
                  <a:cubicBezTo>
                    <a:pt x="6057704" y="8897168"/>
                    <a:pt x="7532552" y="8051517"/>
                    <a:pt x="8331006" y="6673304"/>
                  </a:cubicBezTo>
                  <a:cubicBezTo>
                    <a:pt x="9129460" y="5295089"/>
                    <a:pt x="9129460" y="3595001"/>
                    <a:pt x="8331006" y="2216787"/>
                  </a:cubicBezTo>
                  <a:cubicBezTo>
                    <a:pt x="7532552" y="838573"/>
                    <a:pt x="6057704" y="-7078"/>
                    <a:pt x="4464923" y="45"/>
                  </a:cubicBezTo>
                  <a:close/>
                </a:path>
              </a:pathLst>
            </a:custGeom>
            <a:solidFill>
              <a:srgbClr val="000000"/>
            </a:solidFill>
          </p:spPr>
        </p:sp>
        <p:sp>
          <p:nvSpPr>
            <p:cNvPr name="Freeform 21" id="21"/>
            <p:cNvSpPr/>
            <p:nvPr/>
          </p:nvSpPr>
          <p:spPr>
            <a:xfrm flipH="false" flipV="false" rot="0">
              <a:off x="251757" y="270468"/>
              <a:ext cx="8405537" cy="8368114"/>
            </a:xfrm>
            <a:custGeom>
              <a:avLst/>
              <a:gdLst/>
              <a:ahLst/>
              <a:cxnLst/>
              <a:rect r="r" b="b" t="t" l="l"/>
              <a:pathLst>
                <a:path h="8368114" w="8405537">
                  <a:moveTo>
                    <a:pt x="4202768" y="42"/>
                  </a:moveTo>
                  <a:cubicBezTo>
                    <a:pt x="2703506" y="-6663"/>
                    <a:pt x="1315253" y="789336"/>
                    <a:pt x="563679" y="2086629"/>
                  </a:cubicBezTo>
                  <a:cubicBezTo>
                    <a:pt x="-187894" y="3383923"/>
                    <a:pt x="-187894" y="4984191"/>
                    <a:pt x="563679" y="6281485"/>
                  </a:cubicBezTo>
                  <a:cubicBezTo>
                    <a:pt x="1315253" y="7578778"/>
                    <a:pt x="2703506" y="8374777"/>
                    <a:pt x="4202768" y="8368072"/>
                  </a:cubicBezTo>
                  <a:cubicBezTo>
                    <a:pt x="5702030" y="8374777"/>
                    <a:pt x="7090283" y="7578778"/>
                    <a:pt x="7841857" y="6281485"/>
                  </a:cubicBezTo>
                  <a:cubicBezTo>
                    <a:pt x="8593429" y="4984191"/>
                    <a:pt x="8593429" y="3383923"/>
                    <a:pt x="7841857" y="2086629"/>
                  </a:cubicBezTo>
                  <a:cubicBezTo>
                    <a:pt x="7090283" y="789336"/>
                    <a:pt x="5702030" y="-6663"/>
                    <a:pt x="4202768" y="42"/>
                  </a:cubicBezTo>
                  <a:close/>
                </a:path>
              </a:pathLst>
            </a:custGeom>
            <a:blipFill>
              <a:blip r:embed="rId8"/>
              <a:stretch>
                <a:fillRect l="223" t="-13190" r="223" b="-13190"/>
              </a:stretch>
            </a:blipFill>
          </p:spPr>
        </p:sp>
        <p:sp>
          <p:nvSpPr>
            <p:cNvPr name="Freeform 22" id="22"/>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87EFB"/>
            </a:solidFill>
          </p:spPr>
        </p:sp>
      </p:grpSp>
      <p:sp>
        <p:nvSpPr>
          <p:cNvPr name="Freeform 23" id="23"/>
          <p:cNvSpPr/>
          <p:nvPr/>
        </p:nvSpPr>
        <p:spPr>
          <a:xfrm flipH="false" flipV="false" rot="-7790191">
            <a:off x="-1828271" y="-2549460"/>
            <a:ext cx="6223172" cy="7408538"/>
          </a:xfrm>
          <a:custGeom>
            <a:avLst/>
            <a:gdLst/>
            <a:ahLst/>
            <a:cxnLst/>
            <a:rect r="r" b="b" t="t" l="l"/>
            <a:pathLst>
              <a:path h="7408538" w="6223172">
                <a:moveTo>
                  <a:pt x="0" y="0"/>
                </a:moveTo>
                <a:lnTo>
                  <a:pt x="6223172" y="0"/>
                </a:lnTo>
                <a:lnTo>
                  <a:pt x="6223172" y="7408538"/>
                </a:lnTo>
                <a:lnTo>
                  <a:pt x="0" y="74085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4" id="24"/>
          <p:cNvGrpSpPr>
            <a:grpSpLocks noChangeAspect="true"/>
          </p:cNvGrpSpPr>
          <p:nvPr/>
        </p:nvGrpSpPr>
        <p:grpSpPr>
          <a:xfrm rot="0">
            <a:off x="8301052" y="6578113"/>
            <a:ext cx="2409906" cy="2409906"/>
            <a:chOff x="0" y="0"/>
            <a:chExt cx="8909050" cy="8909050"/>
          </a:xfrm>
        </p:grpSpPr>
        <p:sp>
          <p:nvSpPr>
            <p:cNvPr name="Freeform 25" id="25"/>
            <p:cNvSpPr/>
            <p:nvPr/>
          </p:nvSpPr>
          <p:spPr>
            <a:xfrm flipH="false" flipV="false" rot="0">
              <a:off x="-10398" y="9480"/>
              <a:ext cx="8929847" cy="8890089"/>
            </a:xfrm>
            <a:custGeom>
              <a:avLst/>
              <a:gdLst/>
              <a:ahLst/>
              <a:cxnLst/>
              <a:rect r="r" b="b" t="t" l="l"/>
              <a:pathLst>
                <a:path h="8890089" w="8929847">
                  <a:moveTo>
                    <a:pt x="4464923" y="45"/>
                  </a:moveTo>
                  <a:cubicBezTo>
                    <a:pt x="2872142" y="-7078"/>
                    <a:pt x="1397294" y="838573"/>
                    <a:pt x="598840" y="2216787"/>
                  </a:cubicBezTo>
                  <a:cubicBezTo>
                    <a:pt x="-199614" y="3595001"/>
                    <a:pt x="-199614" y="5295089"/>
                    <a:pt x="598840" y="6673304"/>
                  </a:cubicBezTo>
                  <a:cubicBezTo>
                    <a:pt x="1397294" y="8051517"/>
                    <a:pt x="2872142" y="8897168"/>
                    <a:pt x="4464923" y="8890045"/>
                  </a:cubicBezTo>
                  <a:cubicBezTo>
                    <a:pt x="6057704" y="8897168"/>
                    <a:pt x="7532552" y="8051517"/>
                    <a:pt x="8331006" y="6673304"/>
                  </a:cubicBezTo>
                  <a:cubicBezTo>
                    <a:pt x="9129460" y="5295089"/>
                    <a:pt x="9129460" y="3595001"/>
                    <a:pt x="8331006" y="2216787"/>
                  </a:cubicBezTo>
                  <a:cubicBezTo>
                    <a:pt x="7532552" y="838573"/>
                    <a:pt x="6057704" y="-7078"/>
                    <a:pt x="4464923" y="45"/>
                  </a:cubicBezTo>
                  <a:close/>
                </a:path>
              </a:pathLst>
            </a:custGeom>
            <a:solidFill>
              <a:srgbClr val="000000"/>
            </a:solidFill>
          </p:spPr>
        </p:sp>
        <p:sp>
          <p:nvSpPr>
            <p:cNvPr name="Freeform 26" id="26"/>
            <p:cNvSpPr/>
            <p:nvPr/>
          </p:nvSpPr>
          <p:spPr>
            <a:xfrm flipH="false" flipV="false" rot="0">
              <a:off x="251757" y="270468"/>
              <a:ext cx="8405537" cy="8368114"/>
            </a:xfrm>
            <a:custGeom>
              <a:avLst/>
              <a:gdLst/>
              <a:ahLst/>
              <a:cxnLst/>
              <a:rect r="r" b="b" t="t" l="l"/>
              <a:pathLst>
                <a:path h="8368114" w="8405537">
                  <a:moveTo>
                    <a:pt x="4202768" y="42"/>
                  </a:moveTo>
                  <a:cubicBezTo>
                    <a:pt x="2703506" y="-6663"/>
                    <a:pt x="1315253" y="789336"/>
                    <a:pt x="563679" y="2086629"/>
                  </a:cubicBezTo>
                  <a:cubicBezTo>
                    <a:pt x="-187894" y="3383923"/>
                    <a:pt x="-187894" y="4984191"/>
                    <a:pt x="563679" y="6281485"/>
                  </a:cubicBezTo>
                  <a:cubicBezTo>
                    <a:pt x="1315253" y="7578778"/>
                    <a:pt x="2703506" y="8374777"/>
                    <a:pt x="4202768" y="8368072"/>
                  </a:cubicBezTo>
                  <a:cubicBezTo>
                    <a:pt x="5702030" y="8374777"/>
                    <a:pt x="7090283" y="7578778"/>
                    <a:pt x="7841857" y="6281485"/>
                  </a:cubicBezTo>
                  <a:cubicBezTo>
                    <a:pt x="8593429" y="4984191"/>
                    <a:pt x="8593429" y="3383923"/>
                    <a:pt x="7841857" y="2086629"/>
                  </a:cubicBezTo>
                  <a:cubicBezTo>
                    <a:pt x="7090283" y="789336"/>
                    <a:pt x="5702030" y="-6663"/>
                    <a:pt x="4202768" y="42"/>
                  </a:cubicBezTo>
                  <a:close/>
                </a:path>
              </a:pathLst>
            </a:custGeom>
            <a:blipFill>
              <a:blip r:embed="rId11"/>
              <a:stretch>
                <a:fillRect l="-27154" t="0" r="-27154" b="0"/>
              </a:stretch>
            </a:blipFill>
          </p:spPr>
        </p:sp>
        <p:sp>
          <p:nvSpPr>
            <p:cNvPr name="Freeform 27" id="27"/>
            <p:cNvSpPr/>
            <p:nvPr/>
          </p:nvSpPr>
          <p:spPr>
            <a:xfrm flipH="false" flipV="false" rot="0">
              <a:off x="0" y="0"/>
              <a:ext cx="8909050" cy="8909050"/>
            </a:xfrm>
            <a:custGeom>
              <a:avLst/>
              <a:gdLst/>
              <a:ahLst/>
              <a:cxnLst/>
              <a:rect r="r" b="b" t="t" l="l"/>
              <a:pathLst>
                <a:path h="8909050" w="8909050">
                  <a:moveTo>
                    <a:pt x="4454525" y="8909050"/>
                  </a:moveTo>
                  <a:cubicBezTo>
                    <a:pt x="3264662" y="8909050"/>
                    <a:pt x="2146046" y="8445500"/>
                    <a:pt x="1304544" y="7603744"/>
                  </a:cubicBezTo>
                  <a:cubicBezTo>
                    <a:pt x="895477" y="7194550"/>
                    <a:pt x="574294" y="6718173"/>
                    <a:pt x="350012" y="6187694"/>
                  </a:cubicBezTo>
                  <a:cubicBezTo>
                    <a:pt x="117729" y="5638673"/>
                    <a:pt x="0" y="5055489"/>
                    <a:pt x="0" y="4454525"/>
                  </a:cubicBezTo>
                  <a:cubicBezTo>
                    <a:pt x="0" y="3854704"/>
                    <a:pt x="117475" y="3272282"/>
                    <a:pt x="349377" y="2723642"/>
                  </a:cubicBezTo>
                  <a:cubicBezTo>
                    <a:pt x="573405" y="2193163"/>
                    <a:pt x="894207" y="1716786"/>
                    <a:pt x="1302766" y="1307338"/>
                  </a:cubicBezTo>
                  <a:cubicBezTo>
                    <a:pt x="2144141" y="464312"/>
                    <a:pt x="3263519" y="0"/>
                    <a:pt x="4454525" y="0"/>
                  </a:cubicBezTo>
                  <a:cubicBezTo>
                    <a:pt x="5055362" y="0"/>
                    <a:pt x="5638419" y="117729"/>
                    <a:pt x="6187440" y="350012"/>
                  </a:cubicBezTo>
                  <a:cubicBezTo>
                    <a:pt x="6717792" y="574294"/>
                    <a:pt x="7194296" y="895477"/>
                    <a:pt x="7603490" y="1304544"/>
                  </a:cubicBezTo>
                  <a:cubicBezTo>
                    <a:pt x="8445373" y="2146046"/>
                    <a:pt x="8909050" y="3264789"/>
                    <a:pt x="8909050" y="4454652"/>
                  </a:cubicBezTo>
                  <a:cubicBezTo>
                    <a:pt x="8909050" y="5644769"/>
                    <a:pt x="8445246" y="6763766"/>
                    <a:pt x="7602982" y="7605268"/>
                  </a:cubicBezTo>
                  <a:cubicBezTo>
                    <a:pt x="7193789" y="8014208"/>
                    <a:pt x="6717285" y="8335138"/>
                    <a:pt x="6186932" y="8559419"/>
                  </a:cubicBezTo>
                  <a:cubicBezTo>
                    <a:pt x="5637911" y="8791321"/>
                    <a:pt x="5055108" y="8909050"/>
                    <a:pt x="4454525" y="8909050"/>
                  </a:cubicBezTo>
                  <a:close/>
                  <a:moveTo>
                    <a:pt x="4454525" y="19050"/>
                  </a:moveTo>
                  <a:cubicBezTo>
                    <a:pt x="3268599" y="19050"/>
                    <a:pt x="2154047" y="481330"/>
                    <a:pt x="1316228" y="1320800"/>
                  </a:cubicBezTo>
                  <a:cubicBezTo>
                    <a:pt x="909447" y="1728343"/>
                    <a:pt x="590042" y="2202815"/>
                    <a:pt x="366903" y="2731008"/>
                  </a:cubicBezTo>
                  <a:cubicBezTo>
                    <a:pt x="136017" y="3277362"/>
                    <a:pt x="19050" y="3857244"/>
                    <a:pt x="19050" y="4454525"/>
                  </a:cubicBezTo>
                  <a:cubicBezTo>
                    <a:pt x="19050" y="5052949"/>
                    <a:pt x="136271" y="5633593"/>
                    <a:pt x="367538" y="6180328"/>
                  </a:cubicBezTo>
                  <a:cubicBezTo>
                    <a:pt x="590931" y="6708522"/>
                    <a:pt x="910717" y="7182866"/>
                    <a:pt x="1318006" y="7590282"/>
                  </a:cubicBezTo>
                  <a:cubicBezTo>
                    <a:pt x="2155825" y="8428355"/>
                    <a:pt x="3269742" y="8890000"/>
                    <a:pt x="4454525" y="8890000"/>
                  </a:cubicBezTo>
                  <a:cubicBezTo>
                    <a:pt x="5052568" y="8890000"/>
                    <a:pt x="5632958" y="8772779"/>
                    <a:pt x="6179439" y="8541766"/>
                  </a:cubicBezTo>
                  <a:cubicBezTo>
                    <a:pt x="6707632" y="8318500"/>
                    <a:pt x="7181977" y="7998841"/>
                    <a:pt x="7589520" y="7591679"/>
                  </a:cubicBezTo>
                  <a:cubicBezTo>
                    <a:pt x="8428101" y="6753733"/>
                    <a:pt x="8890000" y="5639562"/>
                    <a:pt x="8890000" y="4454525"/>
                  </a:cubicBezTo>
                  <a:cubicBezTo>
                    <a:pt x="8890000" y="3269742"/>
                    <a:pt x="8428355" y="2155825"/>
                    <a:pt x="7590028" y="1317879"/>
                  </a:cubicBezTo>
                  <a:cubicBezTo>
                    <a:pt x="7182612" y="910590"/>
                    <a:pt x="6708140" y="590931"/>
                    <a:pt x="6180074" y="367538"/>
                  </a:cubicBezTo>
                  <a:cubicBezTo>
                    <a:pt x="5633339" y="136271"/>
                    <a:pt x="5052822" y="19050"/>
                    <a:pt x="4454525" y="19050"/>
                  </a:cubicBezTo>
                  <a:close/>
                  <a:moveTo>
                    <a:pt x="4454525" y="8648065"/>
                  </a:moveTo>
                  <a:cubicBezTo>
                    <a:pt x="3334385" y="8648065"/>
                    <a:pt x="2281301" y="8211693"/>
                    <a:pt x="1489075" y="7419213"/>
                  </a:cubicBezTo>
                  <a:cubicBezTo>
                    <a:pt x="697103" y="6626987"/>
                    <a:pt x="260985" y="5574157"/>
                    <a:pt x="260985" y="4454525"/>
                  </a:cubicBezTo>
                  <a:cubicBezTo>
                    <a:pt x="260985" y="3889756"/>
                    <a:pt x="371602" y="3341497"/>
                    <a:pt x="589788" y="2824988"/>
                  </a:cubicBezTo>
                  <a:cubicBezTo>
                    <a:pt x="800735" y="2325624"/>
                    <a:pt x="1102741" y="1877060"/>
                    <a:pt x="1487297" y="1491742"/>
                  </a:cubicBezTo>
                  <a:cubicBezTo>
                    <a:pt x="2279396" y="698119"/>
                    <a:pt x="3333242" y="260985"/>
                    <a:pt x="4454398" y="260985"/>
                  </a:cubicBezTo>
                  <a:cubicBezTo>
                    <a:pt x="5573776" y="260985"/>
                    <a:pt x="6626606" y="697103"/>
                    <a:pt x="7418832" y="1488948"/>
                  </a:cubicBezTo>
                  <a:cubicBezTo>
                    <a:pt x="8211438" y="2281174"/>
                    <a:pt x="8647937" y="3334385"/>
                    <a:pt x="8647937" y="4454398"/>
                  </a:cubicBezTo>
                  <a:cubicBezTo>
                    <a:pt x="8647937" y="5574792"/>
                    <a:pt x="8211311" y="6628130"/>
                    <a:pt x="7418450" y="7420356"/>
                  </a:cubicBezTo>
                  <a:cubicBezTo>
                    <a:pt x="6626225" y="8212074"/>
                    <a:pt x="5573522" y="8648065"/>
                    <a:pt x="4454525" y="8648065"/>
                  </a:cubicBezTo>
                  <a:close/>
                  <a:moveTo>
                    <a:pt x="4454525" y="280035"/>
                  </a:moveTo>
                  <a:cubicBezTo>
                    <a:pt x="3338449" y="280035"/>
                    <a:pt x="2289429" y="715137"/>
                    <a:pt x="1500886" y="1505204"/>
                  </a:cubicBezTo>
                  <a:cubicBezTo>
                    <a:pt x="713613" y="2294001"/>
                    <a:pt x="280035" y="3341370"/>
                    <a:pt x="280035" y="4454525"/>
                  </a:cubicBezTo>
                  <a:cubicBezTo>
                    <a:pt x="280035" y="5569077"/>
                    <a:pt x="714248" y="6617081"/>
                    <a:pt x="1502537" y="7405751"/>
                  </a:cubicBezTo>
                  <a:cubicBezTo>
                    <a:pt x="2291080" y="8194548"/>
                    <a:pt x="3339465" y="8629015"/>
                    <a:pt x="4454525" y="8629015"/>
                  </a:cubicBezTo>
                  <a:cubicBezTo>
                    <a:pt x="5568442" y="8629015"/>
                    <a:pt x="6616319" y="8195056"/>
                    <a:pt x="7405116" y="7407021"/>
                  </a:cubicBezTo>
                  <a:cubicBezTo>
                    <a:pt x="8194422" y="6618477"/>
                    <a:pt x="8629015" y="5569839"/>
                    <a:pt x="8629015" y="4454525"/>
                  </a:cubicBezTo>
                  <a:cubicBezTo>
                    <a:pt x="8629015" y="3339465"/>
                    <a:pt x="8194548" y="2291080"/>
                    <a:pt x="7405497" y="1502537"/>
                  </a:cubicBezTo>
                  <a:cubicBezTo>
                    <a:pt x="6616827" y="714121"/>
                    <a:pt x="5568823" y="280035"/>
                    <a:pt x="4454525" y="280035"/>
                  </a:cubicBezTo>
                  <a:close/>
                </a:path>
              </a:pathLst>
            </a:custGeom>
            <a:solidFill>
              <a:srgbClr val="587EFB"/>
            </a:solidFill>
          </p:spPr>
        </p:sp>
      </p:grpSp>
      <p:sp>
        <p:nvSpPr>
          <p:cNvPr name="TextBox 28" id="28"/>
          <p:cNvSpPr txBox="true"/>
          <p:nvPr/>
        </p:nvSpPr>
        <p:spPr>
          <a:xfrm rot="0">
            <a:off x="7335257" y="1058613"/>
            <a:ext cx="3917871" cy="1400175"/>
          </a:xfrm>
          <a:prstGeom prst="rect">
            <a:avLst/>
          </a:prstGeom>
        </p:spPr>
        <p:txBody>
          <a:bodyPr anchor="t" rtlCol="false" tIns="0" lIns="0" bIns="0" rIns="0">
            <a:spAutoFit/>
          </a:bodyPr>
          <a:lstStyle/>
          <a:p>
            <a:pPr algn="ctr">
              <a:lnSpc>
                <a:spcPts val="10500"/>
              </a:lnSpc>
            </a:pPr>
            <a:r>
              <a:rPr lang="en-US" sz="10500">
                <a:solidFill>
                  <a:srgbClr val="E30408"/>
                </a:solidFill>
                <a:latin typeface="Bright Retro"/>
                <a:ea typeface="Bright Retro"/>
                <a:cs typeface="Bright Retro"/>
                <a:sym typeface="Bright Retro"/>
              </a:rPr>
              <a:t>INSIGHT</a:t>
            </a:r>
          </a:p>
        </p:txBody>
      </p:sp>
      <p:grpSp>
        <p:nvGrpSpPr>
          <p:cNvPr name="Group 29" id="29"/>
          <p:cNvGrpSpPr/>
          <p:nvPr/>
        </p:nvGrpSpPr>
        <p:grpSpPr>
          <a:xfrm rot="0">
            <a:off x="8391400" y="5039795"/>
            <a:ext cx="2472843" cy="1305499"/>
            <a:chOff x="0" y="0"/>
            <a:chExt cx="3297124" cy="1740665"/>
          </a:xfrm>
        </p:grpSpPr>
        <p:sp>
          <p:nvSpPr>
            <p:cNvPr name="TextBox 30" id="30"/>
            <p:cNvSpPr txBox="true"/>
            <p:nvPr/>
          </p:nvSpPr>
          <p:spPr>
            <a:xfrm rot="0">
              <a:off x="56874" y="-28575"/>
              <a:ext cx="3183375" cy="1090037"/>
            </a:xfrm>
            <a:prstGeom prst="rect">
              <a:avLst/>
            </a:prstGeom>
          </p:spPr>
          <p:txBody>
            <a:bodyPr anchor="t" rtlCol="false" tIns="0" lIns="0" bIns="0" rIns="0">
              <a:spAutoFit/>
            </a:bodyPr>
            <a:lstStyle/>
            <a:p>
              <a:pPr algn="ctr">
                <a:lnSpc>
                  <a:spcPts val="3318"/>
                </a:lnSpc>
              </a:pPr>
              <a:r>
                <a:rPr lang="en-US" sz="2552">
                  <a:solidFill>
                    <a:srgbClr val="E30408"/>
                  </a:solidFill>
                  <a:latin typeface="Alkalami"/>
                  <a:ea typeface="Alkalami"/>
                  <a:cs typeface="Alkalami"/>
                  <a:sym typeface="Alkalami"/>
                </a:rPr>
                <a:t>Mohamed</a:t>
              </a:r>
            </a:p>
            <a:p>
              <a:pPr algn="ctr">
                <a:lnSpc>
                  <a:spcPts val="3318"/>
                </a:lnSpc>
              </a:pPr>
              <a:r>
                <a:rPr lang="en-US" sz="2552">
                  <a:solidFill>
                    <a:srgbClr val="E30408"/>
                  </a:solidFill>
                  <a:latin typeface="Alkalami"/>
                  <a:ea typeface="Alkalami"/>
                  <a:cs typeface="Alkalami"/>
                  <a:sym typeface="Alkalami"/>
                </a:rPr>
                <a:t>Abd-Elrahman</a:t>
              </a:r>
            </a:p>
          </p:txBody>
        </p:sp>
        <p:sp>
          <p:nvSpPr>
            <p:cNvPr name="TextBox 31" id="31"/>
            <p:cNvSpPr txBox="true"/>
            <p:nvPr/>
          </p:nvSpPr>
          <p:spPr>
            <a:xfrm rot="0">
              <a:off x="0" y="1322328"/>
              <a:ext cx="3297124" cy="418337"/>
            </a:xfrm>
            <a:prstGeom prst="rect">
              <a:avLst/>
            </a:prstGeom>
          </p:spPr>
          <p:txBody>
            <a:bodyPr anchor="t" rtlCol="false" tIns="0" lIns="0" bIns="0" rIns="0">
              <a:spAutoFit/>
            </a:bodyPr>
            <a:lstStyle/>
            <a:p>
              <a:pPr algn="ctr">
                <a:lnSpc>
                  <a:spcPts val="2647"/>
                </a:lnSpc>
              </a:pPr>
              <a:r>
                <a:rPr lang="en-US" sz="1890" i="true" spc="7">
                  <a:solidFill>
                    <a:srgbClr val="E30408"/>
                  </a:solidFill>
                  <a:latin typeface="Alkalami"/>
                  <a:ea typeface="Alkalami"/>
                  <a:cs typeface="Alkalami"/>
                  <a:sym typeface="Alkalami"/>
                </a:rPr>
                <a:t>Team leader</a:t>
              </a:r>
            </a:p>
          </p:txBody>
        </p:sp>
      </p:grpSp>
      <p:sp>
        <p:nvSpPr>
          <p:cNvPr name="TextBox 32" id="32"/>
          <p:cNvSpPr txBox="true"/>
          <p:nvPr/>
        </p:nvSpPr>
        <p:spPr>
          <a:xfrm rot="0">
            <a:off x="4077963" y="9269595"/>
            <a:ext cx="2117659" cy="752914"/>
          </a:xfrm>
          <a:prstGeom prst="rect">
            <a:avLst/>
          </a:prstGeom>
        </p:spPr>
        <p:txBody>
          <a:bodyPr anchor="t" rtlCol="false" tIns="0" lIns="0" bIns="0" rIns="0">
            <a:spAutoFit/>
          </a:bodyPr>
          <a:lstStyle/>
          <a:p>
            <a:pPr algn="ctr">
              <a:lnSpc>
                <a:spcPts val="3059"/>
              </a:lnSpc>
            </a:pPr>
            <a:r>
              <a:rPr lang="en-US" sz="2353">
                <a:solidFill>
                  <a:srgbClr val="E30408"/>
                </a:solidFill>
                <a:latin typeface="Alkalami"/>
                <a:ea typeface="Alkalami"/>
                <a:cs typeface="Alkalami"/>
                <a:sym typeface="Alkalami"/>
              </a:rPr>
              <a:t>Mahmoud </a:t>
            </a:r>
          </a:p>
          <a:p>
            <a:pPr algn="ctr" marL="0" indent="0" lvl="0">
              <a:lnSpc>
                <a:spcPts val="3059"/>
              </a:lnSpc>
            </a:pPr>
            <a:r>
              <a:rPr lang="en-US" sz="2353">
                <a:solidFill>
                  <a:srgbClr val="E30408"/>
                </a:solidFill>
                <a:latin typeface="Alkalami"/>
                <a:ea typeface="Alkalami"/>
                <a:cs typeface="Alkalami"/>
                <a:sym typeface="Alkalami"/>
              </a:rPr>
              <a:t>Waleed</a:t>
            </a:r>
          </a:p>
        </p:txBody>
      </p:sp>
      <p:sp>
        <p:nvSpPr>
          <p:cNvPr name="TextBox 33" id="33"/>
          <p:cNvSpPr txBox="true"/>
          <p:nvPr/>
        </p:nvSpPr>
        <p:spPr>
          <a:xfrm rot="0">
            <a:off x="13286430" y="9299696"/>
            <a:ext cx="2030798" cy="722813"/>
          </a:xfrm>
          <a:prstGeom prst="rect">
            <a:avLst/>
          </a:prstGeom>
        </p:spPr>
        <p:txBody>
          <a:bodyPr anchor="t" rtlCol="false" tIns="0" lIns="0" bIns="0" rIns="0">
            <a:spAutoFit/>
          </a:bodyPr>
          <a:lstStyle/>
          <a:p>
            <a:pPr algn="ctr">
              <a:lnSpc>
                <a:spcPts val="2933"/>
              </a:lnSpc>
            </a:pPr>
            <a:r>
              <a:rPr lang="en-US" sz="2256">
                <a:solidFill>
                  <a:srgbClr val="E30408"/>
                </a:solidFill>
                <a:latin typeface="Alkalami"/>
                <a:ea typeface="Alkalami"/>
                <a:cs typeface="Alkalami"/>
                <a:sym typeface="Alkalami"/>
              </a:rPr>
              <a:t>Ali </a:t>
            </a:r>
          </a:p>
          <a:p>
            <a:pPr algn="ctr" marL="0" indent="0" lvl="0">
              <a:lnSpc>
                <a:spcPts val="2933"/>
              </a:lnSpc>
            </a:pPr>
            <a:r>
              <a:rPr lang="en-US" sz="2256">
                <a:solidFill>
                  <a:srgbClr val="E30408"/>
                </a:solidFill>
                <a:latin typeface="Alkalami"/>
                <a:ea typeface="Alkalami"/>
                <a:cs typeface="Alkalami"/>
                <a:sym typeface="Alkalami"/>
              </a:rPr>
              <a:t>Mohamed</a:t>
            </a:r>
          </a:p>
        </p:txBody>
      </p:sp>
      <p:sp>
        <p:nvSpPr>
          <p:cNvPr name="TextBox 34" id="34"/>
          <p:cNvSpPr txBox="true"/>
          <p:nvPr/>
        </p:nvSpPr>
        <p:spPr>
          <a:xfrm rot="0">
            <a:off x="13131192" y="5350820"/>
            <a:ext cx="2254394" cy="824671"/>
          </a:xfrm>
          <a:prstGeom prst="rect">
            <a:avLst/>
          </a:prstGeom>
        </p:spPr>
        <p:txBody>
          <a:bodyPr anchor="t" rtlCol="false" tIns="0" lIns="0" bIns="0" rIns="0">
            <a:spAutoFit/>
          </a:bodyPr>
          <a:lstStyle/>
          <a:p>
            <a:pPr algn="ctr" marL="0" indent="0" lvl="0">
              <a:lnSpc>
                <a:spcPts val="3318"/>
              </a:lnSpc>
            </a:pPr>
            <a:r>
              <a:rPr lang="en-US" sz="2552">
                <a:solidFill>
                  <a:srgbClr val="E30408"/>
                </a:solidFill>
                <a:latin typeface="Alkalami"/>
                <a:ea typeface="Alkalami"/>
                <a:cs typeface="Alkalami"/>
                <a:sym typeface="Alkalami"/>
              </a:rPr>
              <a:t>Mohmed Hussein</a:t>
            </a:r>
          </a:p>
        </p:txBody>
      </p:sp>
      <p:sp>
        <p:nvSpPr>
          <p:cNvPr name="TextBox 35" id="35"/>
          <p:cNvSpPr txBox="true"/>
          <p:nvPr/>
        </p:nvSpPr>
        <p:spPr>
          <a:xfrm rot="0">
            <a:off x="3884656" y="5520622"/>
            <a:ext cx="2297238" cy="824671"/>
          </a:xfrm>
          <a:prstGeom prst="rect">
            <a:avLst/>
          </a:prstGeom>
        </p:spPr>
        <p:txBody>
          <a:bodyPr anchor="t" rtlCol="false" tIns="0" lIns="0" bIns="0" rIns="0">
            <a:spAutoFit/>
          </a:bodyPr>
          <a:lstStyle/>
          <a:p>
            <a:pPr algn="ctr" marL="0" indent="0" lvl="0">
              <a:lnSpc>
                <a:spcPts val="3318"/>
              </a:lnSpc>
            </a:pPr>
            <a:r>
              <a:rPr lang="en-US" sz="2552">
                <a:solidFill>
                  <a:srgbClr val="E30408"/>
                </a:solidFill>
                <a:latin typeface="Alkalami"/>
                <a:ea typeface="Alkalami"/>
                <a:cs typeface="Alkalami"/>
                <a:sym typeface="Alkalami"/>
              </a:rPr>
              <a:t>Mohamed Sharaf</a:t>
            </a:r>
          </a:p>
        </p:txBody>
      </p:sp>
      <p:sp>
        <p:nvSpPr>
          <p:cNvPr name="TextBox 36" id="36"/>
          <p:cNvSpPr txBox="true"/>
          <p:nvPr/>
        </p:nvSpPr>
        <p:spPr>
          <a:xfrm rot="0">
            <a:off x="8480333" y="9269541"/>
            <a:ext cx="2051344" cy="752968"/>
          </a:xfrm>
          <a:prstGeom prst="rect">
            <a:avLst/>
          </a:prstGeom>
        </p:spPr>
        <p:txBody>
          <a:bodyPr anchor="t" rtlCol="false" tIns="0" lIns="0" bIns="0" rIns="0">
            <a:spAutoFit/>
          </a:bodyPr>
          <a:lstStyle/>
          <a:p>
            <a:pPr algn="ctr">
              <a:lnSpc>
                <a:spcPts val="3019"/>
              </a:lnSpc>
            </a:pPr>
            <a:r>
              <a:rPr lang="en-US" sz="2322">
                <a:solidFill>
                  <a:srgbClr val="E30408"/>
                </a:solidFill>
                <a:latin typeface="Alkalami"/>
                <a:ea typeface="Alkalami"/>
                <a:cs typeface="Alkalami"/>
                <a:sym typeface="Alkalami"/>
              </a:rPr>
              <a:t>Mahmoud </a:t>
            </a:r>
          </a:p>
          <a:p>
            <a:pPr algn="ctr" marL="0" indent="0" lvl="0">
              <a:lnSpc>
                <a:spcPts val="3019"/>
              </a:lnSpc>
            </a:pPr>
            <a:r>
              <a:rPr lang="en-US" sz="2322">
                <a:solidFill>
                  <a:srgbClr val="E30408"/>
                </a:solidFill>
                <a:latin typeface="Alkalami"/>
                <a:ea typeface="Alkalami"/>
                <a:cs typeface="Alkalami"/>
                <a:sym typeface="Alkalami"/>
              </a:rPr>
              <a:t>Soliman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DAG08LdJ1Yo</dc:identifier>
  <dcterms:modified xsi:type="dcterms:W3CDTF">2011-08-01T06:04:30Z</dcterms:modified>
  <cp:revision>1</cp:revision>
  <dc:title>Overview</dc:title>
</cp:coreProperties>
</file>